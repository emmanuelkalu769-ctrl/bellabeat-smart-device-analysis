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Average minutes</c:v>
                </c:pt>
              </c:strCache>
            </c:strRef>
          </c:tx>
          <c:spPr>
            <a:solidFill>
              <a:srgbClr val="744996"/>
            </a:solidFill>
          </c:spPr>
          <c:cat>
            <c:strRef>
              <c:f>Sheet1!$A$2:$A$5</c:f>
              <c:strCache>
                <c:ptCount val="4"/>
                <c:pt idx="0">
                  <c:v>Very active</c:v>
                </c:pt>
                <c:pt idx="1">
                  <c:v>Fairly active</c:v>
                </c:pt>
                <c:pt idx="2">
                  <c:v>Lightly active</c:v>
                </c:pt>
                <c:pt idx="3">
                  <c:v>Sedentary</c:v>
                </c:pt>
              </c:strCache>
            </c:strRef>
          </c:cat>
          <c:val>
            <c:numRef>
              <c:f>Sheet1!$B$2:$B$5</c:f>
              <c:numCache>
                <c:formatCode>General</c:formatCode>
                <c:ptCount val="4"/>
                <c:pt idx="0">
                  <c:v>16.62</c:v>
                </c:pt>
                <c:pt idx="1">
                  <c:v>13.07</c:v>
                </c:pt>
                <c:pt idx="2">
                  <c:v>170.07</c:v>
                </c:pt>
                <c:pt idx="3">
                  <c:v>995.28</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9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Average steps</c:v>
                </c:pt>
              </c:strCache>
            </c:strRef>
          </c:tx>
          <c:spPr>
            <a:ln w="28575">
              <a:solidFill>
                <a:srgbClr val="4C8F8B"/>
              </a:solidFill>
            </a:ln>
          </c:spP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44.42</c:v>
                </c:pt>
                <c:pt idx="1">
                  <c:v>20.48</c:v>
                </c:pt>
                <c:pt idx="2">
                  <c:v>10.59</c:v>
                </c:pt>
                <c:pt idx="3">
                  <c:v>7.31</c:v>
                </c:pt>
                <c:pt idx="4">
                  <c:v>9.76</c:v>
                </c:pt>
                <c:pt idx="5">
                  <c:v>26.11</c:v>
                </c:pt>
                <c:pt idx="6">
                  <c:v>120.16</c:v>
                </c:pt>
                <c:pt idx="7">
                  <c:v>267.12</c:v>
                </c:pt>
                <c:pt idx="8">
                  <c:v>365.6</c:v>
                </c:pt>
                <c:pt idx="9">
                  <c:v>430.26</c:v>
                </c:pt>
                <c:pt idx="10">
                  <c:v>437.01</c:v>
                </c:pt>
                <c:pt idx="11">
                  <c:v>452.75</c:v>
                </c:pt>
                <c:pt idx="12">
                  <c:v>520.94</c:v>
                </c:pt>
                <c:pt idx="13">
                  <c:v>457.88</c:v>
                </c:pt>
                <c:pt idx="14">
                  <c:v>474.12</c:v>
                </c:pt>
                <c:pt idx="15">
                  <c:v>390.47</c:v>
                </c:pt>
                <c:pt idx="16">
                  <c:v>447.37</c:v>
                </c:pt>
                <c:pt idx="17">
                  <c:v>453.66</c:v>
                </c:pt>
                <c:pt idx="18">
                  <c:v>505.65</c:v>
                </c:pt>
                <c:pt idx="19">
                  <c:v>528.88</c:v>
                </c:pt>
                <c:pt idx="20">
                  <c:v>399.32</c:v>
                </c:pt>
                <c:pt idx="21">
                  <c:v>261.01</c:v>
                </c:pt>
                <c:pt idx="22">
                  <c:v>172.98</c:v>
                </c:pt>
                <c:pt idx="23">
                  <c:v>102.9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8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1F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21792"/>
            <a:ext cx="2743200" cy="274320"/>
          </a:xfrm>
          <a:prstGeom prst="rect">
            <a:avLst/>
          </a:prstGeom>
          <a:noFill/>
        </p:spPr>
        <p:txBody>
          <a:bodyPr wrap="square" anchor="t">
            <a:spAutoFit/>
          </a:bodyPr>
          <a:lstStyle/>
          <a:p>
            <a:pPr algn="l"/>
            <a:r>
              <a:rPr sz="1000" b="1">
                <a:solidFill>
                  <a:srgbClr val="B18DC9"/>
                </a:solidFill>
                <a:latin typeface="Aptos"/>
              </a:rPr>
              <a:t>BELLABEAT</a:t>
            </a:r>
          </a:p>
        </p:txBody>
      </p:sp>
      <p:sp>
        <p:nvSpPr>
          <p:cNvPr id="4" name="TextBox 3"/>
          <p:cNvSpPr txBox="1"/>
          <p:nvPr/>
        </p:nvSpPr>
        <p:spPr>
          <a:xfrm>
            <a:off x="685800" y="1234440"/>
            <a:ext cx="6583680" cy="1234440"/>
          </a:xfrm>
          <a:prstGeom prst="rect">
            <a:avLst/>
          </a:prstGeom>
          <a:noFill/>
        </p:spPr>
        <p:txBody>
          <a:bodyPr wrap="square" anchor="t">
            <a:spAutoFit/>
          </a:bodyPr>
          <a:lstStyle/>
          <a:p>
            <a:pPr algn="l"/>
            <a:r>
              <a:rPr sz="3400" b="1">
                <a:solidFill>
                  <a:srgbClr val="FFFFFF"/>
                </a:solidFill>
                <a:latin typeface="Aptos Display"/>
              </a:rPr>
              <a:t>Smart-Device
Usage Analysis</a:t>
            </a:r>
          </a:p>
        </p:txBody>
      </p:sp>
      <p:sp>
        <p:nvSpPr>
          <p:cNvPr id="5" name="TextBox 4"/>
          <p:cNvSpPr txBox="1"/>
          <p:nvPr/>
        </p:nvSpPr>
        <p:spPr>
          <a:xfrm>
            <a:off x="713232" y="2743200"/>
            <a:ext cx="6217920" cy="640080"/>
          </a:xfrm>
          <a:prstGeom prst="rect">
            <a:avLst/>
          </a:prstGeom>
          <a:noFill/>
        </p:spPr>
        <p:txBody>
          <a:bodyPr wrap="square" anchor="t">
            <a:spAutoFit/>
          </a:bodyPr>
          <a:lstStyle/>
          <a:p>
            <a:pPr algn="l"/>
            <a:r>
              <a:rPr sz="1600" b="0">
                <a:solidFill>
                  <a:srgbClr val="DCD6E0"/>
                </a:solidFill>
                <a:latin typeface="Aptos"/>
              </a:rPr>
              <a:t>From raw Fitbit records to evidence-based customer and marketing implications</a:t>
            </a:r>
          </a:p>
        </p:txBody>
      </p:sp>
      <p:sp>
        <p:nvSpPr>
          <p:cNvPr id="6" name="Rounded Rectangle 5"/>
          <p:cNvSpPr/>
          <p:nvPr/>
        </p:nvSpPr>
        <p:spPr>
          <a:xfrm>
            <a:off x="7818120" y="731520"/>
            <a:ext cx="3566160" cy="5349240"/>
          </a:xfrm>
          <a:prstGeom prst="roundRect">
            <a:avLst/>
          </a:prstGeom>
          <a:solidFill>
            <a:srgbClr val="312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138160" y="1143000"/>
            <a:ext cx="2926080" cy="96012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2752" y="1271016"/>
            <a:ext cx="2596896" cy="438912"/>
          </a:xfrm>
          <a:prstGeom prst="rect">
            <a:avLst/>
          </a:prstGeom>
          <a:noFill/>
        </p:spPr>
        <p:txBody>
          <a:bodyPr wrap="square" anchor="t">
            <a:spAutoFit/>
          </a:bodyPr>
          <a:lstStyle/>
          <a:p>
            <a:pPr algn="l"/>
            <a:r>
              <a:rPr sz="2200" b="1">
                <a:solidFill>
                  <a:srgbClr val="B18DC9"/>
                </a:solidFill>
                <a:latin typeface="Aptos"/>
              </a:rPr>
              <a:t>6,547</a:t>
            </a:r>
          </a:p>
        </p:txBody>
      </p:sp>
      <p:sp>
        <p:nvSpPr>
          <p:cNvPr id="9" name="TextBox 8"/>
          <p:cNvSpPr txBox="1"/>
          <p:nvPr/>
        </p:nvSpPr>
        <p:spPr>
          <a:xfrm>
            <a:off x="8302752" y="1783080"/>
            <a:ext cx="2596896" cy="274320"/>
          </a:xfrm>
          <a:prstGeom prst="rect">
            <a:avLst/>
          </a:prstGeom>
          <a:noFill/>
        </p:spPr>
        <p:txBody>
          <a:bodyPr wrap="square" anchor="t">
            <a:spAutoFit/>
          </a:bodyPr>
          <a:lstStyle/>
          <a:p>
            <a:pPr algn="l"/>
            <a:r>
              <a:rPr sz="1000" b="1">
                <a:solidFill>
                  <a:srgbClr val="67616E"/>
                </a:solidFill>
                <a:latin typeface="Aptos"/>
              </a:rPr>
              <a:t>Avg. daily steps</a:t>
            </a:r>
          </a:p>
        </p:txBody>
      </p:sp>
      <p:sp>
        <p:nvSpPr>
          <p:cNvPr id="10" name="Rounded Rectangle 9"/>
          <p:cNvSpPr/>
          <p:nvPr/>
        </p:nvSpPr>
        <p:spPr>
          <a:xfrm>
            <a:off x="8138160" y="2331720"/>
            <a:ext cx="2926080" cy="96012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2459736"/>
            <a:ext cx="2596896" cy="438912"/>
          </a:xfrm>
          <a:prstGeom prst="rect">
            <a:avLst/>
          </a:prstGeom>
          <a:noFill/>
        </p:spPr>
        <p:txBody>
          <a:bodyPr wrap="square" anchor="t">
            <a:spAutoFit/>
          </a:bodyPr>
          <a:lstStyle/>
          <a:p>
            <a:pPr algn="l"/>
            <a:r>
              <a:rPr sz="2200" b="1">
                <a:solidFill>
                  <a:srgbClr val="4C8F8B"/>
                </a:solidFill>
                <a:latin typeface="Aptos"/>
              </a:rPr>
              <a:t>6h 59m</a:t>
            </a:r>
          </a:p>
        </p:txBody>
      </p:sp>
      <p:sp>
        <p:nvSpPr>
          <p:cNvPr id="12" name="TextBox 11"/>
          <p:cNvSpPr txBox="1"/>
          <p:nvPr/>
        </p:nvSpPr>
        <p:spPr>
          <a:xfrm>
            <a:off x="8302752" y="2971800"/>
            <a:ext cx="2596896" cy="274320"/>
          </a:xfrm>
          <a:prstGeom prst="rect">
            <a:avLst/>
          </a:prstGeom>
          <a:noFill/>
        </p:spPr>
        <p:txBody>
          <a:bodyPr wrap="square" anchor="t">
            <a:spAutoFit/>
          </a:bodyPr>
          <a:lstStyle/>
          <a:p>
            <a:pPr algn="l"/>
            <a:r>
              <a:rPr sz="1000" b="1">
                <a:solidFill>
                  <a:srgbClr val="67616E"/>
                </a:solidFill>
                <a:latin typeface="Aptos"/>
              </a:rPr>
              <a:t>Avg. sleep</a:t>
            </a:r>
          </a:p>
        </p:txBody>
      </p:sp>
      <p:sp>
        <p:nvSpPr>
          <p:cNvPr id="13" name="Rounded Rectangle 12"/>
          <p:cNvSpPr/>
          <p:nvPr/>
        </p:nvSpPr>
        <p:spPr>
          <a:xfrm>
            <a:off x="8138160" y="3520440"/>
            <a:ext cx="2926080" cy="96012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3648456"/>
            <a:ext cx="2596896" cy="438912"/>
          </a:xfrm>
          <a:prstGeom prst="rect">
            <a:avLst/>
          </a:prstGeom>
          <a:noFill/>
        </p:spPr>
        <p:txBody>
          <a:bodyPr wrap="square" anchor="t">
            <a:spAutoFit/>
          </a:bodyPr>
          <a:lstStyle/>
          <a:p>
            <a:pPr algn="l"/>
            <a:r>
              <a:rPr sz="2200" b="1">
                <a:solidFill>
                  <a:srgbClr val="B18DC9"/>
                </a:solidFill>
                <a:latin typeface="Aptos"/>
              </a:rPr>
              <a:t>2,189</a:t>
            </a:r>
          </a:p>
        </p:txBody>
      </p:sp>
      <p:sp>
        <p:nvSpPr>
          <p:cNvPr id="15" name="TextBox 14"/>
          <p:cNvSpPr txBox="1"/>
          <p:nvPr/>
        </p:nvSpPr>
        <p:spPr>
          <a:xfrm>
            <a:off x="8302752" y="4160520"/>
            <a:ext cx="2596896" cy="274320"/>
          </a:xfrm>
          <a:prstGeom prst="rect">
            <a:avLst/>
          </a:prstGeom>
          <a:noFill/>
        </p:spPr>
        <p:txBody>
          <a:bodyPr wrap="square" anchor="t">
            <a:spAutoFit/>
          </a:bodyPr>
          <a:lstStyle/>
          <a:p>
            <a:pPr algn="l"/>
            <a:r>
              <a:rPr sz="1000" b="1">
                <a:solidFill>
                  <a:srgbClr val="67616E"/>
                </a:solidFill>
                <a:latin typeface="Aptos"/>
              </a:rPr>
              <a:t>Avg. calories</a:t>
            </a:r>
          </a:p>
        </p:txBody>
      </p:sp>
      <p:sp>
        <p:nvSpPr>
          <p:cNvPr id="16" name="TextBox 15"/>
          <p:cNvSpPr txBox="1"/>
          <p:nvPr/>
        </p:nvSpPr>
        <p:spPr>
          <a:xfrm>
            <a:off x="713232" y="5349240"/>
            <a:ext cx="5943600" cy="320040"/>
          </a:xfrm>
          <a:prstGeom prst="rect">
            <a:avLst/>
          </a:prstGeom>
          <a:noFill/>
        </p:spPr>
        <p:txBody>
          <a:bodyPr wrap="square" anchor="t">
            <a:spAutoFit/>
          </a:bodyPr>
          <a:lstStyle/>
          <a:p>
            <a:pPr algn="l"/>
            <a:r>
              <a:rPr sz="1300" b="1">
                <a:solidFill>
                  <a:srgbClr val="FFFFFF"/>
                </a:solidFill>
                <a:latin typeface="Aptos"/>
              </a:rPr>
              <a:t>Excel  •  Power BI  •  Business Analysis</a:t>
            </a:r>
          </a:p>
        </p:txBody>
      </p:sp>
      <p:sp>
        <p:nvSpPr>
          <p:cNvPr id="17" name="TextBox 16"/>
          <p:cNvSpPr txBox="1"/>
          <p:nvPr/>
        </p:nvSpPr>
        <p:spPr>
          <a:xfrm>
            <a:off x="713232" y="5806440"/>
            <a:ext cx="6400800" cy="274320"/>
          </a:xfrm>
          <a:prstGeom prst="rect">
            <a:avLst/>
          </a:prstGeom>
          <a:noFill/>
        </p:spPr>
        <p:txBody>
          <a:bodyPr wrap="square" anchor="t">
            <a:spAutoFit/>
          </a:bodyPr>
          <a:lstStyle/>
          <a:p>
            <a:pPr algn="l"/>
            <a:r>
              <a:rPr sz="1000" b="0">
                <a:solidFill>
                  <a:srgbClr val="BEB8C2"/>
                </a:solidFill>
                <a:latin typeface="Aptos"/>
              </a:rPr>
              <a:t>ASK → PREPARE → PROCESS → ANALYZE → SHARE → ACT</a:t>
            </a:r>
          </a:p>
        </p:txBody>
      </p:sp>
      <p:sp>
        <p:nvSpPr>
          <p:cNvPr id="18" name="TextBox 17"/>
          <p:cNvSpPr txBox="1"/>
          <p:nvPr/>
        </p:nvSpPr>
        <p:spPr>
          <a:xfrm>
            <a:off x="11155680" y="6419088"/>
            <a:ext cx="457200" cy="182880"/>
          </a:xfrm>
          <a:prstGeom prst="rect">
            <a:avLst/>
          </a:prstGeom>
          <a:noFill/>
        </p:spPr>
        <p:txBody>
          <a:bodyPr wrap="square" anchor="t">
            <a:spAutoFit/>
          </a:bodyPr>
          <a:lstStyle/>
          <a:p>
            <a:pPr algn="r"/>
            <a:r>
              <a:rPr sz="800" b="1">
                <a:solidFill>
                  <a:srgbClr val="67616E"/>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p:spPr>
        <p:txBody>
          <a:bodyPr wrap="square" anchor="t">
            <a:spAutoFit/>
          </a:bodyPr>
          <a:lstStyle/>
          <a:p>
            <a:pPr algn="l"/>
            <a:r>
              <a:rPr sz="900" b="1">
                <a:solidFill>
                  <a:srgbClr val="744996"/>
                </a:solidFill>
                <a:latin typeface="Aptos"/>
              </a:rPr>
              <a:t>PORTFOLIO CASE STUDY</a:t>
            </a:r>
          </a:p>
        </p:txBody>
      </p:sp>
      <p:sp>
        <p:nvSpPr>
          <p:cNvPr id="4" name="TextBox 3"/>
          <p:cNvSpPr txBox="1"/>
          <p:nvPr/>
        </p:nvSpPr>
        <p:spPr>
          <a:xfrm>
            <a:off x="594360" y="530352"/>
            <a:ext cx="10972800" cy="475488"/>
          </a:xfrm>
          <a:prstGeom prst="rect">
            <a:avLst/>
          </a:prstGeom>
          <a:noFill/>
        </p:spPr>
        <p:txBody>
          <a:bodyPr wrap="square" anchor="t">
            <a:spAutoFit/>
          </a:bodyPr>
          <a:lstStyle/>
          <a:p>
            <a:pPr algn="l"/>
            <a:r>
              <a:rPr sz="2400" b="1">
                <a:solidFill>
                  <a:srgbClr val="231F29"/>
                </a:solidFill>
                <a:latin typeface="Aptos Display"/>
              </a:rPr>
              <a:t>Executive summary</a:t>
            </a:r>
          </a:p>
        </p:txBody>
      </p:sp>
      <p:sp>
        <p:nvSpPr>
          <p:cNvPr id="5" name="Rectangle 4"/>
          <p:cNvSpPr/>
          <p:nvPr/>
        </p:nvSpPr>
        <p:spPr>
          <a:xfrm>
            <a:off x="594360" y="1078992"/>
            <a:ext cx="502920" cy="45720"/>
          </a:xfrm>
          <a:prstGeom prst="rect">
            <a:avLst/>
          </a:prstGeom>
          <a:solidFill>
            <a:srgbClr val="744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2514600" cy="1078992"/>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499616"/>
            <a:ext cx="2185416" cy="438912"/>
          </a:xfrm>
          <a:prstGeom prst="rect">
            <a:avLst/>
          </a:prstGeom>
          <a:noFill/>
        </p:spPr>
        <p:txBody>
          <a:bodyPr wrap="square" anchor="t">
            <a:spAutoFit/>
          </a:bodyPr>
          <a:lstStyle/>
          <a:p>
            <a:pPr algn="l"/>
            <a:r>
              <a:rPr sz="2200" b="1">
                <a:solidFill>
                  <a:srgbClr val="744996"/>
                </a:solidFill>
                <a:latin typeface="Aptos"/>
              </a:rPr>
              <a:t>35</a:t>
            </a:r>
          </a:p>
        </p:txBody>
      </p:sp>
      <p:sp>
        <p:nvSpPr>
          <p:cNvPr id="8" name="TextBox 7"/>
          <p:cNvSpPr txBox="1"/>
          <p:nvPr/>
        </p:nvSpPr>
        <p:spPr>
          <a:xfrm>
            <a:off x="804671" y="2011680"/>
            <a:ext cx="2185416" cy="274320"/>
          </a:xfrm>
          <a:prstGeom prst="rect">
            <a:avLst/>
          </a:prstGeom>
          <a:noFill/>
        </p:spPr>
        <p:txBody>
          <a:bodyPr wrap="square" anchor="t">
            <a:spAutoFit/>
          </a:bodyPr>
          <a:lstStyle/>
          <a:p>
            <a:pPr algn="l"/>
            <a:r>
              <a:rPr sz="1000" b="1">
                <a:solidFill>
                  <a:srgbClr val="67616E"/>
                </a:solidFill>
                <a:latin typeface="Aptos"/>
              </a:rPr>
              <a:t>Participants</a:t>
            </a:r>
          </a:p>
        </p:txBody>
      </p:sp>
      <p:sp>
        <p:nvSpPr>
          <p:cNvPr id="9" name="Rounded Rectangle 8"/>
          <p:cNvSpPr/>
          <p:nvPr/>
        </p:nvSpPr>
        <p:spPr>
          <a:xfrm>
            <a:off x="3337560" y="1371600"/>
            <a:ext cx="2514600" cy="1078992"/>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02152" y="1499616"/>
            <a:ext cx="2185416" cy="438912"/>
          </a:xfrm>
          <a:prstGeom prst="rect">
            <a:avLst/>
          </a:prstGeom>
          <a:noFill/>
        </p:spPr>
        <p:txBody>
          <a:bodyPr wrap="square" anchor="t">
            <a:spAutoFit/>
          </a:bodyPr>
          <a:lstStyle/>
          <a:p>
            <a:pPr algn="l"/>
            <a:r>
              <a:rPr sz="2200" b="1">
                <a:solidFill>
                  <a:srgbClr val="4C8F8B"/>
                </a:solidFill>
                <a:latin typeface="Aptos"/>
              </a:rPr>
              <a:t>457</a:t>
            </a:r>
          </a:p>
        </p:txBody>
      </p:sp>
      <p:sp>
        <p:nvSpPr>
          <p:cNvPr id="11" name="TextBox 10"/>
          <p:cNvSpPr txBox="1"/>
          <p:nvPr/>
        </p:nvSpPr>
        <p:spPr>
          <a:xfrm>
            <a:off x="3502152" y="2011680"/>
            <a:ext cx="2185416" cy="274320"/>
          </a:xfrm>
          <a:prstGeom prst="rect">
            <a:avLst/>
          </a:prstGeom>
          <a:noFill/>
        </p:spPr>
        <p:txBody>
          <a:bodyPr wrap="square" anchor="t">
            <a:spAutoFit/>
          </a:bodyPr>
          <a:lstStyle/>
          <a:p>
            <a:pPr algn="l"/>
            <a:r>
              <a:rPr sz="1000" b="1">
                <a:solidFill>
                  <a:srgbClr val="67616E"/>
                </a:solidFill>
                <a:latin typeface="Aptos"/>
              </a:rPr>
              <a:t>Daily records</a:t>
            </a:r>
          </a:p>
        </p:txBody>
      </p:sp>
      <p:sp>
        <p:nvSpPr>
          <p:cNvPr id="12" name="Rounded Rectangle 11"/>
          <p:cNvSpPr/>
          <p:nvPr/>
        </p:nvSpPr>
        <p:spPr>
          <a:xfrm>
            <a:off x="6035040" y="1371600"/>
            <a:ext cx="2514600" cy="1078992"/>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9631" y="1499616"/>
            <a:ext cx="2185416" cy="438912"/>
          </a:xfrm>
          <a:prstGeom prst="rect">
            <a:avLst/>
          </a:prstGeom>
          <a:noFill/>
        </p:spPr>
        <p:txBody>
          <a:bodyPr wrap="square" anchor="t">
            <a:spAutoFit/>
          </a:bodyPr>
          <a:lstStyle/>
          <a:p>
            <a:pPr algn="l"/>
            <a:r>
              <a:rPr sz="2200" b="1">
                <a:solidFill>
                  <a:srgbClr val="744996"/>
                </a:solidFill>
                <a:latin typeface="Aptos"/>
              </a:rPr>
              <a:t>410</a:t>
            </a:r>
          </a:p>
        </p:txBody>
      </p:sp>
      <p:sp>
        <p:nvSpPr>
          <p:cNvPr id="14" name="TextBox 13"/>
          <p:cNvSpPr txBox="1"/>
          <p:nvPr/>
        </p:nvSpPr>
        <p:spPr>
          <a:xfrm>
            <a:off x="6199631" y="2011680"/>
            <a:ext cx="2185416" cy="274320"/>
          </a:xfrm>
          <a:prstGeom prst="rect">
            <a:avLst/>
          </a:prstGeom>
          <a:noFill/>
        </p:spPr>
        <p:txBody>
          <a:bodyPr wrap="square" anchor="t">
            <a:spAutoFit/>
          </a:bodyPr>
          <a:lstStyle/>
          <a:p>
            <a:pPr algn="l"/>
            <a:r>
              <a:rPr sz="1000" b="1">
                <a:solidFill>
                  <a:srgbClr val="67616E"/>
                </a:solidFill>
                <a:latin typeface="Aptos"/>
              </a:rPr>
              <a:t>Sleep records</a:t>
            </a:r>
          </a:p>
        </p:txBody>
      </p:sp>
      <p:sp>
        <p:nvSpPr>
          <p:cNvPr id="15" name="Rounded Rectangle 14"/>
          <p:cNvSpPr/>
          <p:nvPr/>
        </p:nvSpPr>
        <p:spPr>
          <a:xfrm>
            <a:off x="8732520" y="1371600"/>
            <a:ext cx="2514600" cy="1078992"/>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97112" y="1499616"/>
            <a:ext cx="2185416" cy="438912"/>
          </a:xfrm>
          <a:prstGeom prst="rect">
            <a:avLst/>
          </a:prstGeom>
          <a:noFill/>
        </p:spPr>
        <p:txBody>
          <a:bodyPr wrap="square" anchor="t">
            <a:spAutoFit/>
          </a:bodyPr>
          <a:lstStyle/>
          <a:p>
            <a:pPr algn="l"/>
            <a:r>
              <a:rPr sz="2200" b="1">
                <a:solidFill>
                  <a:srgbClr val="4C8F8B"/>
                </a:solidFill>
                <a:latin typeface="Aptos"/>
              </a:rPr>
              <a:t>32 days</a:t>
            </a:r>
          </a:p>
        </p:txBody>
      </p:sp>
      <p:sp>
        <p:nvSpPr>
          <p:cNvPr id="17" name="TextBox 16"/>
          <p:cNvSpPr txBox="1"/>
          <p:nvPr/>
        </p:nvSpPr>
        <p:spPr>
          <a:xfrm>
            <a:off x="8897112" y="2011680"/>
            <a:ext cx="2185416" cy="274320"/>
          </a:xfrm>
          <a:prstGeom prst="rect">
            <a:avLst/>
          </a:prstGeom>
          <a:noFill/>
        </p:spPr>
        <p:txBody>
          <a:bodyPr wrap="square" anchor="t">
            <a:spAutoFit/>
          </a:bodyPr>
          <a:lstStyle/>
          <a:p>
            <a:pPr algn="l"/>
            <a:r>
              <a:rPr sz="1000" b="1">
                <a:solidFill>
                  <a:srgbClr val="67616E"/>
                </a:solidFill>
                <a:latin typeface="Aptos"/>
              </a:rPr>
              <a:t>Study window</a:t>
            </a:r>
          </a:p>
        </p:txBody>
      </p:sp>
      <p:sp>
        <p:nvSpPr>
          <p:cNvPr id="18" name="TextBox 17"/>
          <p:cNvSpPr txBox="1"/>
          <p:nvPr/>
        </p:nvSpPr>
        <p:spPr>
          <a:xfrm>
            <a:off x="777240" y="2743200"/>
            <a:ext cx="10515600" cy="3063240"/>
          </a:xfrm>
          <a:prstGeom prst="rect">
            <a:avLst/>
          </a:prstGeom>
          <a:noFill/>
        </p:spPr>
        <p:txBody>
          <a:bodyPr wrap="square">
            <a:spAutoFit/>
          </a:bodyPr>
          <a:lstStyle/>
          <a:p>
            <a:pPr>
              <a:spcAft>
                <a:spcPts val="800"/>
              </a:spcAft>
              <a:defRPr sz="1500">
                <a:solidFill>
                  <a:srgbClr val="231F29"/>
                </a:solidFill>
                <a:latin typeface="Aptos"/>
              </a:defRPr>
            </a:pPr>
            <a:r>
              <a:t>• Recorded behavior was dominated by sedentary and light activity.</a:t>
            </a:r>
          </a:p>
          <a:p>
            <a:pPr>
              <a:spcAft>
                <a:spcPts val="800"/>
              </a:spcAft>
              <a:defRPr sz="1500">
                <a:solidFill>
                  <a:srgbClr val="231F29"/>
                </a:solidFill>
                <a:latin typeface="Aptos"/>
              </a:defRPr>
            </a:pPr>
            <a:r>
              <a:t>• Participants averaged about 6,547 steps and 6h 59m of sleep per recorded observation.</a:t>
            </a:r>
          </a:p>
          <a:p>
            <a:pPr>
              <a:spcAft>
                <a:spcPts val="800"/>
              </a:spcAft>
              <a:defRPr sz="1500">
                <a:solidFill>
                  <a:srgbClr val="231F29"/>
                </a:solidFill>
                <a:latin typeface="Aptos"/>
              </a:defRPr>
            </a:pPr>
            <a:r>
              <a:t>• Daily steps had a moderate positive association with calorie expenditure (r = 0.581).</a:t>
            </a:r>
          </a:p>
          <a:p>
            <a:pPr>
              <a:spcAft>
                <a:spcPts val="800"/>
              </a:spcAft>
              <a:defRPr sz="1500">
                <a:solidFill>
                  <a:srgbClr val="231F29"/>
                </a:solidFill>
                <a:latin typeface="Aptos"/>
              </a:defRPr>
            </a:pPr>
            <a:r>
              <a:t>• Hourly activity rose through the day and reached its highest average around 7 PM.</a:t>
            </a:r>
          </a:p>
          <a:p>
            <a:pPr>
              <a:spcAft>
                <a:spcPts val="800"/>
              </a:spcAft>
              <a:defRPr sz="1500">
                <a:solidFill>
                  <a:srgbClr val="231F29"/>
                </a:solidFill>
                <a:latin typeface="Aptos"/>
              </a:defRPr>
            </a:pPr>
            <a:r>
              <a:t>• Findings are exploratory: the source is historical third-party data, not Bellabeat customer data.</a:t>
            </a:r>
          </a:p>
        </p:txBody>
      </p:sp>
      <p:sp>
        <p:nvSpPr>
          <p:cNvPr id="19" name="TextBox 18"/>
          <p:cNvSpPr txBox="1"/>
          <p:nvPr/>
        </p:nvSpPr>
        <p:spPr>
          <a:xfrm>
            <a:off x="11155680" y="6419088"/>
            <a:ext cx="457200" cy="182880"/>
          </a:xfrm>
          <a:prstGeom prst="rect">
            <a:avLst/>
          </a:prstGeom>
          <a:noFill/>
        </p:spPr>
        <p:txBody>
          <a:bodyPr wrap="square" anchor="t">
            <a:spAutoFit/>
          </a:bodyPr>
          <a:lstStyle/>
          <a:p>
            <a:pPr algn="r"/>
            <a:r>
              <a:rPr sz="800" b="1">
                <a:solidFill>
                  <a:srgbClr val="67616E"/>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p:spPr>
        <p:txBody>
          <a:bodyPr wrap="square" anchor="t">
            <a:spAutoFit/>
          </a:bodyPr>
          <a:lstStyle/>
          <a:p>
            <a:pPr algn="l"/>
            <a:r>
              <a:rPr sz="900" b="1">
                <a:solidFill>
                  <a:srgbClr val="744996"/>
                </a:solidFill>
                <a:latin typeface="Aptos"/>
              </a:rPr>
              <a:t>ASK</a:t>
            </a:r>
          </a:p>
        </p:txBody>
      </p:sp>
      <p:sp>
        <p:nvSpPr>
          <p:cNvPr id="4" name="TextBox 3"/>
          <p:cNvSpPr txBox="1"/>
          <p:nvPr/>
        </p:nvSpPr>
        <p:spPr>
          <a:xfrm>
            <a:off x="594360" y="530352"/>
            <a:ext cx="10972800" cy="475488"/>
          </a:xfrm>
          <a:prstGeom prst="rect">
            <a:avLst/>
          </a:prstGeom>
          <a:noFill/>
        </p:spPr>
        <p:txBody>
          <a:bodyPr wrap="square" anchor="t">
            <a:spAutoFit/>
          </a:bodyPr>
          <a:lstStyle/>
          <a:p>
            <a:pPr algn="l"/>
            <a:r>
              <a:rPr sz="2400" b="1">
                <a:solidFill>
                  <a:srgbClr val="231F29"/>
                </a:solidFill>
                <a:latin typeface="Aptos Display"/>
              </a:rPr>
              <a:t>Business problem &amp; questions</a:t>
            </a:r>
          </a:p>
        </p:txBody>
      </p:sp>
      <p:sp>
        <p:nvSpPr>
          <p:cNvPr id="5" name="Rectangle 4"/>
          <p:cNvSpPr/>
          <p:nvPr/>
        </p:nvSpPr>
        <p:spPr>
          <a:xfrm>
            <a:off x="594360" y="1078992"/>
            <a:ext cx="502920" cy="45720"/>
          </a:xfrm>
          <a:prstGeom prst="rect">
            <a:avLst/>
          </a:prstGeom>
          <a:solidFill>
            <a:srgbClr val="744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71600"/>
            <a:ext cx="1828800" cy="274320"/>
          </a:xfrm>
          <a:prstGeom prst="rect">
            <a:avLst/>
          </a:prstGeom>
          <a:noFill/>
        </p:spPr>
        <p:txBody>
          <a:bodyPr wrap="square" anchor="t">
            <a:spAutoFit/>
          </a:bodyPr>
          <a:lstStyle/>
          <a:p>
            <a:pPr algn="l"/>
            <a:r>
              <a:rPr sz="1100" b="1">
                <a:solidFill>
                  <a:srgbClr val="744996"/>
                </a:solidFill>
                <a:latin typeface="Aptos"/>
              </a:rPr>
              <a:t>Objective</a:t>
            </a:r>
          </a:p>
        </p:txBody>
      </p:sp>
      <p:sp>
        <p:nvSpPr>
          <p:cNvPr id="7" name="TextBox 6"/>
          <p:cNvSpPr txBox="1"/>
          <p:nvPr/>
        </p:nvSpPr>
        <p:spPr>
          <a:xfrm>
            <a:off x="685800" y="1737360"/>
            <a:ext cx="10424160" cy="685800"/>
          </a:xfrm>
          <a:prstGeom prst="rect">
            <a:avLst/>
          </a:prstGeom>
          <a:noFill/>
        </p:spPr>
        <p:txBody>
          <a:bodyPr wrap="square" anchor="t">
            <a:spAutoFit/>
          </a:bodyPr>
          <a:lstStyle/>
          <a:p>
            <a:pPr algn="l"/>
            <a:r>
              <a:rPr sz="1700" b="0">
                <a:solidFill>
                  <a:srgbClr val="231F29"/>
                </a:solidFill>
                <a:latin typeface="Aptos"/>
              </a:rPr>
              <a:t>Identify evidence-based smart-device usage patterns that could inform Bellabeat's marketing strategy and customer-engagement activities.</a:t>
            </a:r>
          </a:p>
        </p:txBody>
      </p:sp>
      <p:sp>
        <p:nvSpPr>
          <p:cNvPr id="8" name="TextBox 7"/>
          <p:cNvSpPr txBox="1"/>
          <p:nvPr/>
        </p:nvSpPr>
        <p:spPr>
          <a:xfrm>
            <a:off x="777240" y="2743200"/>
            <a:ext cx="502920" cy="320040"/>
          </a:xfrm>
          <a:prstGeom prst="rect">
            <a:avLst/>
          </a:prstGeom>
          <a:noFill/>
        </p:spPr>
        <p:txBody>
          <a:bodyPr wrap="square" anchor="t">
            <a:spAutoFit/>
          </a:bodyPr>
          <a:lstStyle/>
          <a:p>
            <a:pPr algn="l"/>
            <a:r>
              <a:rPr sz="1400" b="1">
                <a:solidFill>
                  <a:srgbClr val="744996"/>
                </a:solidFill>
                <a:latin typeface="Aptos"/>
              </a:rPr>
              <a:t>01</a:t>
            </a:r>
          </a:p>
        </p:txBody>
      </p:sp>
      <p:sp>
        <p:nvSpPr>
          <p:cNvPr id="9" name="TextBox 8"/>
          <p:cNvSpPr txBox="1"/>
          <p:nvPr/>
        </p:nvSpPr>
        <p:spPr>
          <a:xfrm>
            <a:off x="1417320" y="2743200"/>
            <a:ext cx="9784080" cy="502920"/>
          </a:xfrm>
          <a:prstGeom prst="rect">
            <a:avLst/>
          </a:prstGeom>
          <a:noFill/>
        </p:spPr>
        <p:txBody>
          <a:bodyPr wrap="square" anchor="t">
            <a:spAutoFit/>
          </a:bodyPr>
          <a:lstStyle/>
          <a:p>
            <a:pPr algn="l"/>
            <a:r>
              <a:rPr sz="1700" b="1">
                <a:solidFill>
                  <a:srgbClr val="231F29"/>
                </a:solidFill>
                <a:latin typeface="Aptos"/>
              </a:rPr>
              <a:t>What are some trends in smart-device usage?</a:t>
            </a:r>
          </a:p>
        </p:txBody>
      </p:sp>
      <p:sp>
        <p:nvSpPr>
          <p:cNvPr id="10" name="TextBox 9"/>
          <p:cNvSpPr txBox="1"/>
          <p:nvPr/>
        </p:nvSpPr>
        <p:spPr>
          <a:xfrm>
            <a:off x="777240" y="3703320"/>
            <a:ext cx="502920" cy="320040"/>
          </a:xfrm>
          <a:prstGeom prst="rect">
            <a:avLst/>
          </a:prstGeom>
          <a:noFill/>
        </p:spPr>
        <p:txBody>
          <a:bodyPr wrap="square" anchor="t">
            <a:spAutoFit/>
          </a:bodyPr>
          <a:lstStyle/>
          <a:p>
            <a:pPr algn="l"/>
            <a:r>
              <a:rPr sz="1400" b="1">
                <a:solidFill>
                  <a:srgbClr val="744996"/>
                </a:solidFill>
                <a:latin typeface="Aptos"/>
              </a:rPr>
              <a:t>02</a:t>
            </a:r>
          </a:p>
        </p:txBody>
      </p:sp>
      <p:sp>
        <p:nvSpPr>
          <p:cNvPr id="11" name="TextBox 10"/>
          <p:cNvSpPr txBox="1"/>
          <p:nvPr/>
        </p:nvSpPr>
        <p:spPr>
          <a:xfrm>
            <a:off x="1417320" y="3703320"/>
            <a:ext cx="9784080" cy="502920"/>
          </a:xfrm>
          <a:prstGeom prst="rect">
            <a:avLst/>
          </a:prstGeom>
          <a:noFill/>
        </p:spPr>
        <p:txBody>
          <a:bodyPr wrap="square" anchor="t">
            <a:spAutoFit/>
          </a:bodyPr>
          <a:lstStyle/>
          <a:p>
            <a:pPr algn="l"/>
            <a:r>
              <a:rPr sz="1700" b="1">
                <a:solidFill>
                  <a:srgbClr val="231F29"/>
                </a:solidFill>
                <a:latin typeface="Aptos"/>
              </a:rPr>
              <a:t>How could these trends apply to Bellabeat customers?</a:t>
            </a:r>
          </a:p>
        </p:txBody>
      </p:sp>
      <p:sp>
        <p:nvSpPr>
          <p:cNvPr id="12" name="TextBox 11"/>
          <p:cNvSpPr txBox="1"/>
          <p:nvPr/>
        </p:nvSpPr>
        <p:spPr>
          <a:xfrm>
            <a:off x="777240" y="4663440"/>
            <a:ext cx="502920" cy="320040"/>
          </a:xfrm>
          <a:prstGeom prst="rect">
            <a:avLst/>
          </a:prstGeom>
          <a:noFill/>
        </p:spPr>
        <p:txBody>
          <a:bodyPr wrap="square" anchor="t">
            <a:spAutoFit/>
          </a:bodyPr>
          <a:lstStyle/>
          <a:p>
            <a:pPr algn="l"/>
            <a:r>
              <a:rPr sz="1400" b="1">
                <a:solidFill>
                  <a:srgbClr val="744996"/>
                </a:solidFill>
                <a:latin typeface="Aptos"/>
              </a:rPr>
              <a:t>03</a:t>
            </a:r>
          </a:p>
        </p:txBody>
      </p:sp>
      <p:sp>
        <p:nvSpPr>
          <p:cNvPr id="13" name="TextBox 12"/>
          <p:cNvSpPr txBox="1"/>
          <p:nvPr/>
        </p:nvSpPr>
        <p:spPr>
          <a:xfrm>
            <a:off x="1417320" y="4663440"/>
            <a:ext cx="9784080" cy="502920"/>
          </a:xfrm>
          <a:prstGeom prst="rect">
            <a:avLst/>
          </a:prstGeom>
          <a:noFill/>
        </p:spPr>
        <p:txBody>
          <a:bodyPr wrap="square" anchor="t">
            <a:spAutoFit/>
          </a:bodyPr>
          <a:lstStyle/>
          <a:p>
            <a:pPr algn="l"/>
            <a:r>
              <a:rPr sz="1700" b="1">
                <a:solidFill>
                  <a:srgbClr val="231F29"/>
                </a:solidFill>
                <a:latin typeface="Aptos"/>
              </a:rPr>
              <a:t>How could these trends influence Bellabeat's marketing strategy?</a:t>
            </a:r>
          </a:p>
        </p:txBody>
      </p:sp>
      <p:sp>
        <p:nvSpPr>
          <p:cNvPr id="14" name="TextBox 13"/>
          <p:cNvSpPr txBox="1"/>
          <p:nvPr/>
        </p:nvSpPr>
        <p:spPr>
          <a:xfrm>
            <a:off x="11155680" y="6419088"/>
            <a:ext cx="457200" cy="182880"/>
          </a:xfrm>
          <a:prstGeom prst="rect">
            <a:avLst/>
          </a:prstGeom>
          <a:noFill/>
        </p:spPr>
        <p:txBody>
          <a:bodyPr wrap="square" anchor="t">
            <a:spAutoFit/>
          </a:bodyPr>
          <a:lstStyle/>
          <a:p>
            <a:pPr algn="r"/>
            <a:r>
              <a:rPr sz="800" b="1">
                <a:solidFill>
                  <a:srgbClr val="67616E"/>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p:spPr>
        <p:txBody>
          <a:bodyPr wrap="square" anchor="t">
            <a:spAutoFit/>
          </a:bodyPr>
          <a:lstStyle/>
          <a:p>
            <a:pPr algn="l"/>
            <a:r>
              <a:rPr sz="900" b="1">
                <a:solidFill>
                  <a:srgbClr val="744996"/>
                </a:solidFill>
                <a:latin typeface="Aptos"/>
              </a:rPr>
              <a:t>PREPARE</a:t>
            </a:r>
          </a:p>
        </p:txBody>
      </p:sp>
      <p:sp>
        <p:nvSpPr>
          <p:cNvPr id="4" name="TextBox 3"/>
          <p:cNvSpPr txBox="1"/>
          <p:nvPr/>
        </p:nvSpPr>
        <p:spPr>
          <a:xfrm>
            <a:off x="594360" y="530352"/>
            <a:ext cx="10972800" cy="475488"/>
          </a:xfrm>
          <a:prstGeom prst="rect">
            <a:avLst/>
          </a:prstGeom>
          <a:noFill/>
        </p:spPr>
        <p:txBody>
          <a:bodyPr wrap="square" anchor="t">
            <a:spAutoFit/>
          </a:bodyPr>
          <a:lstStyle/>
          <a:p>
            <a:pPr algn="l"/>
            <a:r>
              <a:rPr sz="2400" b="1">
                <a:solidFill>
                  <a:srgbClr val="231F29"/>
                </a:solidFill>
                <a:latin typeface="Aptos Display"/>
              </a:rPr>
              <a:t>Data &amp; analytical approach</a:t>
            </a:r>
          </a:p>
        </p:txBody>
      </p:sp>
      <p:sp>
        <p:nvSpPr>
          <p:cNvPr id="5" name="Rectangle 4"/>
          <p:cNvSpPr/>
          <p:nvPr/>
        </p:nvSpPr>
        <p:spPr>
          <a:xfrm>
            <a:off x="594360" y="1078992"/>
            <a:ext cx="502920" cy="45720"/>
          </a:xfrm>
          <a:prstGeom prst="rect">
            <a:avLst/>
          </a:prstGeom>
          <a:solidFill>
            <a:srgbClr val="744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417320"/>
            <a:ext cx="3337560" cy="160020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72768"/>
            <a:ext cx="2971800" cy="292608"/>
          </a:xfrm>
          <a:prstGeom prst="rect">
            <a:avLst/>
          </a:prstGeom>
          <a:noFill/>
        </p:spPr>
        <p:txBody>
          <a:bodyPr wrap="square" anchor="t">
            <a:spAutoFit/>
          </a:bodyPr>
          <a:lstStyle/>
          <a:p>
            <a:pPr algn="l"/>
            <a:r>
              <a:rPr sz="1200" b="1">
                <a:solidFill>
                  <a:srgbClr val="744996"/>
                </a:solidFill>
                <a:latin typeface="Aptos"/>
              </a:rPr>
              <a:t>Daily activity</a:t>
            </a:r>
          </a:p>
        </p:txBody>
      </p:sp>
      <p:sp>
        <p:nvSpPr>
          <p:cNvPr id="8" name="TextBox 7"/>
          <p:cNvSpPr txBox="1"/>
          <p:nvPr/>
        </p:nvSpPr>
        <p:spPr>
          <a:xfrm>
            <a:off x="868680" y="1947672"/>
            <a:ext cx="2971800" cy="960120"/>
          </a:xfrm>
          <a:prstGeom prst="rect">
            <a:avLst/>
          </a:prstGeom>
          <a:noFill/>
        </p:spPr>
        <p:txBody>
          <a:bodyPr wrap="square" anchor="t">
            <a:spAutoFit/>
          </a:bodyPr>
          <a:lstStyle/>
          <a:p>
            <a:pPr algn="l"/>
            <a:r>
              <a:rPr sz="1050" b="0">
                <a:solidFill>
                  <a:srgbClr val="231F29"/>
                </a:solidFill>
                <a:latin typeface="Aptos"/>
              </a:rPr>
              <a:t>457 records • 35 users
Engagement, steps, intensity, calories</a:t>
            </a:r>
          </a:p>
        </p:txBody>
      </p:sp>
      <p:sp>
        <p:nvSpPr>
          <p:cNvPr id="9" name="Rounded Rectangle 8"/>
          <p:cNvSpPr/>
          <p:nvPr/>
        </p:nvSpPr>
        <p:spPr>
          <a:xfrm>
            <a:off x="4389120" y="1417320"/>
            <a:ext cx="3337560" cy="160020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72768"/>
            <a:ext cx="2971800" cy="292608"/>
          </a:xfrm>
          <a:prstGeom prst="rect">
            <a:avLst/>
          </a:prstGeom>
          <a:noFill/>
        </p:spPr>
        <p:txBody>
          <a:bodyPr wrap="square" anchor="t">
            <a:spAutoFit/>
          </a:bodyPr>
          <a:lstStyle/>
          <a:p>
            <a:pPr algn="l"/>
            <a:r>
              <a:rPr sz="1200" b="1">
                <a:solidFill>
                  <a:srgbClr val="4C8F8B"/>
                </a:solidFill>
                <a:latin typeface="Aptos"/>
              </a:rPr>
              <a:t>Sleep</a:t>
            </a:r>
          </a:p>
        </p:txBody>
      </p:sp>
      <p:sp>
        <p:nvSpPr>
          <p:cNvPr id="11" name="TextBox 10"/>
          <p:cNvSpPr txBox="1"/>
          <p:nvPr/>
        </p:nvSpPr>
        <p:spPr>
          <a:xfrm>
            <a:off x="4572000" y="1947672"/>
            <a:ext cx="2971800" cy="960120"/>
          </a:xfrm>
          <a:prstGeom prst="rect">
            <a:avLst/>
          </a:prstGeom>
          <a:noFill/>
        </p:spPr>
        <p:txBody>
          <a:bodyPr wrap="square" anchor="t">
            <a:spAutoFit/>
          </a:bodyPr>
          <a:lstStyle/>
          <a:p>
            <a:pPr algn="l"/>
            <a:r>
              <a:rPr sz="1050" b="0">
                <a:solidFill>
                  <a:srgbClr val="231F29"/>
                </a:solidFill>
                <a:latin typeface="Aptos"/>
              </a:rPr>
              <a:t>410 cleaned records • 24 users
Sleep duration, time in bed, efficiency</a:t>
            </a:r>
          </a:p>
        </p:txBody>
      </p:sp>
      <p:sp>
        <p:nvSpPr>
          <p:cNvPr id="12" name="Rounded Rectangle 11"/>
          <p:cNvSpPr/>
          <p:nvPr/>
        </p:nvSpPr>
        <p:spPr>
          <a:xfrm>
            <a:off x="8092440" y="1417320"/>
            <a:ext cx="3337560" cy="160020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572768"/>
            <a:ext cx="2971800" cy="292608"/>
          </a:xfrm>
          <a:prstGeom prst="rect">
            <a:avLst/>
          </a:prstGeom>
          <a:noFill/>
        </p:spPr>
        <p:txBody>
          <a:bodyPr wrap="square" anchor="t">
            <a:spAutoFit/>
          </a:bodyPr>
          <a:lstStyle/>
          <a:p>
            <a:pPr algn="l"/>
            <a:r>
              <a:rPr sz="1200" b="1">
                <a:solidFill>
                  <a:srgbClr val="744996"/>
                </a:solidFill>
                <a:latin typeface="Aptos"/>
              </a:rPr>
              <a:t>Hourly activity</a:t>
            </a:r>
          </a:p>
        </p:txBody>
      </p:sp>
      <p:sp>
        <p:nvSpPr>
          <p:cNvPr id="14" name="TextBox 13"/>
          <p:cNvSpPr txBox="1"/>
          <p:nvPr/>
        </p:nvSpPr>
        <p:spPr>
          <a:xfrm>
            <a:off x="8275319" y="1947672"/>
            <a:ext cx="2971800" cy="960120"/>
          </a:xfrm>
          <a:prstGeom prst="rect">
            <a:avLst/>
          </a:prstGeom>
          <a:noFill/>
        </p:spPr>
        <p:txBody>
          <a:bodyPr wrap="square" anchor="t">
            <a:spAutoFit/>
          </a:bodyPr>
          <a:lstStyle/>
          <a:p>
            <a:pPr algn="l"/>
            <a:r>
              <a:rPr sz="1050" b="0">
                <a:solidFill>
                  <a:srgbClr val="231F29"/>
                </a:solidFill>
                <a:latin typeface="Aptos"/>
              </a:rPr>
              <a:t>24,084 records • 34 users
Steps, intensity and calories by hour</a:t>
            </a:r>
          </a:p>
        </p:txBody>
      </p:sp>
      <p:sp>
        <p:nvSpPr>
          <p:cNvPr id="15" name="TextBox 14"/>
          <p:cNvSpPr txBox="1"/>
          <p:nvPr/>
        </p:nvSpPr>
        <p:spPr>
          <a:xfrm>
            <a:off x="685800" y="3429000"/>
            <a:ext cx="2286000" cy="274320"/>
          </a:xfrm>
          <a:prstGeom prst="rect">
            <a:avLst/>
          </a:prstGeom>
          <a:noFill/>
        </p:spPr>
        <p:txBody>
          <a:bodyPr wrap="square" anchor="t">
            <a:spAutoFit/>
          </a:bodyPr>
          <a:lstStyle/>
          <a:p>
            <a:pPr algn="l"/>
            <a:r>
              <a:rPr sz="1100" b="1">
                <a:solidFill>
                  <a:srgbClr val="744996"/>
                </a:solidFill>
                <a:latin typeface="Aptos"/>
              </a:rPr>
              <a:t>Analytical framework</a:t>
            </a:r>
          </a:p>
        </p:txBody>
      </p:sp>
      <p:sp>
        <p:nvSpPr>
          <p:cNvPr id="16" name="TextBox 15"/>
          <p:cNvSpPr txBox="1"/>
          <p:nvPr/>
        </p:nvSpPr>
        <p:spPr>
          <a:xfrm>
            <a:off x="685800" y="3822191"/>
            <a:ext cx="10698480" cy="594360"/>
          </a:xfrm>
          <a:prstGeom prst="rect">
            <a:avLst/>
          </a:prstGeom>
          <a:noFill/>
        </p:spPr>
        <p:txBody>
          <a:bodyPr wrap="square" anchor="t">
            <a:spAutoFit/>
          </a:bodyPr>
          <a:lstStyle/>
          <a:p>
            <a:pPr algn="l"/>
            <a:r>
              <a:rPr sz="1700" b="1">
                <a:solidFill>
                  <a:srgbClr val="231F29"/>
                </a:solidFill>
                <a:latin typeface="Aptos"/>
              </a:rPr>
              <a:t>Business Question  →  Supporting Measure  →  Validated Data  →  Analysis  →  Finding  →  Insight  →  Business Implication</a:t>
            </a:r>
          </a:p>
        </p:txBody>
      </p:sp>
      <p:sp>
        <p:nvSpPr>
          <p:cNvPr id="17" name="TextBox 16"/>
          <p:cNvSpPr txBox="1"/>
          <p:nvPr/>
        </p:nvSpPr>
        <p:spPr>
          <a:xfrm>
            <a:off x="777240" y="4754880"/>
            <a:ext cx="10332720" cy="1234440"/>
          </a:xfrm>
          <a:prstGeom prst="rect">
            <a:avLst/>
          </a:prstGeom>
          <a:noFill/>
        </p:spPr>
        <p:txBody>
          <a:bodyPr wrap="square">
            <a:spAutoFit/>
          </a:bodyPr>
          <a:lstStyle/>
          <a:p>
            <a:pPr>
              <a:spcAft>
                <a:spcPts val="800"/>
              </a:spcAft>
              <a:defRPr sz="1300">
                <a:solidFill>
                  <a:srgbClr val="231F29"/>
                </a:solidFill>
                <a:latin typeface="Aptos"/>
              </a:defRPr>
            </a:pPr>
            <a:r>
              <a:t>• Excel: cleaning, validation, PivotTables, descriptive statistics and correlation analysis.</a:t>
            </a:r>
          </a:p>
          <a:p>
            <a:pPr>
              <a:spcAft>
                <a:spcPts val="800"/>
              </a:spcAft>
              <a:defRPr sz="1300">
                <a:solidFill>
                  <a:srgbClr val="231F29"/>
                </a:solidFill>
                <a:latin typeface="Aptos"/>
              </a:defRPr>
            </a:pPr>
            <a:r>
              <a:t>• Power BI: Power Query, star-schema modelling, DAX measures and interactive dashboard design.</a:t>
            </a:r>
          </a:p>
        </p:txBody>
      </p:sp>
      <p:sp>
        <p:nvSpPr>
          <p:cNvPr id="18" name="TextBox 17"/>
          <p:cNvSpPr txBox="1"/>
          <p:nvPr/>
        </p:nvSpPr>
        <p:spPr>
          <a:xfrm>
            <a:off x="11155680" y="6419088"/>
            <a:ext cx="457200" cy="182880"/>
          </a:xfrm>
          <a:prstGeom prst="rect">
            <a:avLst/>
          </a:prstGeom>
          <a:noFill/>
        </p:spPr>
        <p:txBody>
          <a:bodyPr wrap="square" anchor="t">
            <a:spAutoFit/>
          </a:bodyPr>
          <a:lstStyle/>
          <a:p>
            <a:pPr algn="r"/>
            <a:r>
              <a:rPr sz="800" b="1">
                <a:solidFill>
                  <a:srgbClr val="67616E"/>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p:spPr>
        <p:txBody>
          <a:bodyPr wrap="square" anchor="t">
            <a:spAutoFit/>
          </a:bodyPr>
          <a:lstStyle/>
          <a:p>
            <a:pPr algn="l"/>
            <a:r>
              <a:rPr sz="900" b="1">
                <a:solidFill>
                  <a:srgbClr val="744996"/>
                </a:solidFill>
                <a:latin typeface="Aptos"/>
              </a:rPr>
              <a:t>PROCESS</a:t>
            </a:r>
          </a:p>
        </p:txBody>
      </p:sp>
      <p:sp>
        <p:nvSpPr>
          <p:cNvPr id="4" name="TextBox 3"/>
          <p:cNvSpPr txBox="1"/>
          <p:nvPr/>
        </p:nvSpPr>
        <p:spPr>
          <a:xfrm>
            <a:off x="594360" y="530352"/>
            <a:ext cx="10972800" cy="475488"/>
          </a:xfrm>
          <a:prstGeom prst="rect">
            <a:avLst/>
          </a:prstGeom>
          <a:noFill/>
        </p:spPr>
        <p:txBody>
          <a:bodyPr wrap="square" anchor="t">
            <a:spAutoFit/>
          </a:bodyPr>
          <a:lstStyle/>
          <a:p>
            <a:pPr algn="l"/>
            <a:r>
              <a:rPr sz="2400" b="1">
                <a:solidFill>
                  <a:srgbClr val="231F29"/>
                </a:solidFill>
                <a:latin typeface="Aptos Display"/>
              </a:rPr>
              <a:t>Data preparation &amp; quality</a:t>
            </a:r>
          </a:p>
        </p:txBody>
      </p:sp>
      <p:sp>
        <p:nvSpPr>
          <p:cNvPr id="5" name="Rectangle 4"/>
          <p:cNvSpPr/>
          <p:nvPr/>
        </p:nvSpPr>
        <p:spPr>
          <a:xfrm>
            <a:off x="594360" y="1078992"/>
            <a:ext cx="502920" cy="45720"/>
          </a:xfrm>
          <a:prstGeom prst="rect">
            <a:avLst/>
          </a:prstGeom>
          <a:solidFill>
            <a:srgbClr val="744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417320"/>
            <a:ext cx="5166360" cy="141732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72768"/>
            <a:ext cx="4800600" cy="292608"/>
          </a:xfrm>
          <a:prstGeom prst="rect">
            <a:avLst/>
          </a:prstGeom>
          <a:noFill/>
        </p:spPr>
        <p:txBody>
          <a:bodyPr wrap="square" anchor="t">
            <a:spAutoFit/>
          </a:bodyPr>
          <a:lstStyle/>
          <a:p>
            <a:pPr algn="l"/>
            <a:r>
              <a:rPr sz="1200" b="1">
                <a:solidFill>
                  <a:srgbClr val="744996"/>
                </a:solidFill>
                <a:latin typeface="Aptos"/>
              </a:rPr>
              <a:t>Dates &amp; timestamps</a:t>
            </a:r>
          </a:p>
        </p:txBody>
      </p:sp>
      <p:sp>
        <p:nvSpPr>
          <p:cNvPr id="8" name="TextBox 7"/>
          <p:cNvSpPr txBox="1"/>
          <p:nvPr/>
        </p:nvSpPr>
        <p:spPr>
          <a:xfrm>
            <a:off x="868680" y="1947672"/>
            <a:ext cx="4800600" cy="777240"/>
          </a:xfrm>
          <a:prstGeom prst="rect">
            <a:avLst/>
          </a:prstGeom>
          <a:noFill/>
        </p:spPr>
        <p:txBody>
          <a:bodyPr wrap="square" anchor="t">
            <a:spAutoFit/>
          </a:bodyPr>
          <a:lstStyle/>
          <a:p>
            <a:pPr algn="l"/>
            <a:r>
              <a:rPr sz="1050" b="0">
                <a:solidFill>
                  <a:srgbClr val="231F29"/>
                </a:solidFill>
                <a:latin typeface="Aptos"/>
              </a:rPr>
              <a:t>Standardized daily, sleep and hourly date/time fields for reliable analysis.</a:t>
            </a:r>
          </a:p>
        </p:txBody>
      </p:sp>
      <p:sp>
        <p:nvSpPr>
          <p:cNvPr id="9" name="Rounded Rectangle 8"/>
          <p:cNvSpPr/>
          <p:nvPr/>
        </p:nvSpPr>
        <p:spPr>
          <a:xfrm>
            <a:off x="6263640" y="1417320"/>
            <a:ext cx="5166360" cy="141732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72768"/>
            <a:ext cx="4800600" cy="292608"/>
          </a:xfrm>
          <a:prstGeom prst="rect">
            <a:avLst/>
          </a:prstGeom>
          <a:noFill/>
        </p:spPr>
        <p:txBody>
          <a:bodyPr wrap="square" anchor="t">
            <a:spAutoFit/>
          </a:bodyPr>
          <a:lstStyle/>
          <a:p>
            <a:pPr algn="l"/>
            <a:r>
              <a:rPr sz="1200" b="1">
                <a:solidFill>
                  <a:srgbClr val="4C8F8B"/>
                </a:solidFill>
                <a:latin typeface="Aptos"/>
              </a:rPr>
              <a:t>Sleep duplicates</a:t>
            </a:r>
          </a:p>
        </p:txBody>
      </p:sp>
      <p:sp>
        <p:nvSpPr>
          <p:cNvPr id="11" name="TextBox 10"/>
          <p:cNvSpPr txBox="1"/>
          <p:nvPr/>
        </p:nvSpPr>
        <p:spPr>
          <a:xfrm>
            <a:off x="6446520" y="1947672"/>
            <a:ext cx="4800600" cy="777240"/>
          </a:xfrm>
          <a:prstGeom prst="rect">
            <a:avLst/>
          </a:prstGeom>
          <a:noFill/>
        </p:spPr>
        <p:txBody>
          <a:bodyPr wrap="square" anchor="t">
            <a:spAutoFit/>
          </a:bodyPr>
          <a:lstStyle/>
          <a:p>
            <a:pPr algn="l"/>
            <a:r>
              <a:rPr sz="1050" b="0">
                <a:solidFill>
                  <a:srgbClr val="231F29"/>
                </a:solidFill>
                <a:latin typeface="Aptos"/>
              </a:rPr>
              <a:t>Removed 3 confirmed redundant records: 413 → 410 observations.</a:t>
            </a:r>
          </a:p>
        </p:txBody>
      </p:sp>
      <p:sp>
        <p:nvSpPr>
          <p:cNvPr id="12" name="Rounded Rectangle 11"/>
          <p:cNvSpPr/>
          <p:nvPr/>
        </p:nvSpPr>
        <p:spPr>
          <a:xfrm>
            <a:off x="685800" y="3246120"/>
            <a:ext cx="5166360" cy="141732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401568"/>
            <a:ext cx="4800600" cy="292608"/>
          </a:xfrm>
          <a:prstGeom prst="rect">
            <a:avLst/>
          </a:prstGeom>
          <a:noFill/>
        </p:spPr>
        <p:txBody>
          <a:bodyPr wrap="square" anchor="t">
            <a:spAutoFit/>
          </a:bodyPr>
          <a:lstStyle/>
          <a:p>
            <a:pPr algn="l"/>
            <a:r>
              <a:rPr sz="1200" b="1">
                <a:solidFill>
                  <a:srgbClr val="744996"/>
                </a:solidFill>
                <a:latin typeface="Aptos"/>
              </a:rPr>
              <a:t>Hourly alignment</a:t>
            </a:r>
          </a:p>
        </p:txBody>
      </p:sp>
      <p:sp>
        <p:nvSpPr>
          <p:cNvPr id="14" name="TextBox 13"/>
          <p:cNvSpPr txBox="1"/>
          <p:nvPr/>
        </p:nvSpPr>
        <p:spPr>
          <a:xfrm>
            <a:off x="868680" y="3776472"/>
            <a:ext cx="4800600" cy="777240"/>
          </a:xfrm>
          <a:prstGeom prst="rect">
            <a:avLst/>
          </a:prstGeom>
          <a:noFill/>
        </p:spPr>
        <p:txBody>
          <a:bodyPr wrap="square" anchor="t">
            <a:spAutoFit/>
          </a:bodyPr>
          <a:lstStyle/>
          <a:p>
            <a:pPr algn="l"/>
            <a:r>
              <a:rPr sz="1050" b="0">
                <a:solidFill>
                  <a:srgbClr val="231F29"/>
                </a:solidFill>
                <a:latin typeface="Aptos"/>
              </a:rPr>
              <a:t>Steps, intensity and calories confirmed aligned at User ID + ActivityHour.</a:t>
            </a:r>
          </a:p>
        </p:txBody>
      </p:sp>
      <p:sp>
        <p:nvSpPr>
          <p:cNvPr id="15" name="Rounded Rectangle 14"/>
          <p:cNvSpPr/>
          <p:nvPr/>
        </p:nvSpPr>
        <p:spPr>
          <a:xfrm>
            <a:off x="6263640" y="3246120"/>
            <a:ext cx="5166360" cy="141732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401568"/>
            <a:ext cx="4800600" cy="292608"/>
          </a:xfrm>
          <a:prstGeom prst="rect">
            <a:avLst/>
          </a:prstGeom>
          <a:noFill/>
        </p:spPr>
        <p:txBody>
          <a:bodyPr wrap="square" anchor="t">
            <a:spAutoFit/>
          </a:bodyPr>
          <a:lstStyle/>
          <a:p>
            <a:pPr algn="l"/>
            <a:r>
              <a:rPr sz="1200" b="1">
                <a:solidFill>
                  <a:srgbClr val="4C8F8B"/>
                </a:solidFill>
                <a:latin typeface="Aptos"/>
              </a:rPr>
              <a:t>Activity–sleep match</a:t>
            </a:r>
          </a:p>
        </p:txBody>
      </p:sp>
      <p:sp>
        <p:nvSpPr>
          <p:cNvPr id="17" name="TextBox 16"/>
          <p:cNvSpPr txBox="1"/>
          <p:nvPr/>
        </p:nvSpPr>
        <p:spPr>
          <a:xfrm>
            <a:off x="6446520" y="3776472"/>
            <a:ext cx="4800600" cy="777240"/>
          </a:xfrm>
          <a:prstGeom prst="rect">
            <a:avLst/>
          </a:prstGeom>
          <a:noFill/>
        </p:spPr>
        <p:txBody>
          <a:bodyPr wrap="square" anchor="t">
            <a:spAutoFit/>
          </a:bodyPr>
          <a:lstStyle/>
          <a:p>
            <a:pPr algn="l"/>
            <a:r>
              <a:rPr sz="1050" b="0">
                <a:solidFill>
                  <a:srgbClr val="231F29"/>
                </a:solidFill>
                <a:latin typeface="Aptos"/>
              </a:rPr>
              <a:t>Only 12 of 457 daily activity records matched sleep records (≈2.63%).</a:t>
            </a:r>
          </a:p>
        </p:txBody>
      </p:sp>
      <p:sp>
        <p:nvSpPr>
          <p:cNvPr id="18" name="TextBox 17"/>
          <p:cNvSpPr txBox="1"/>
          <p:nvPr/>
        </p:nvSpPr>
        <p:spPr>
          <a:xfrm>
            <a:off x="777240" y="5257800"/>
            <a:ext cx="1371600" cy="274320"/>
          </a:xfrm>
          <a:prstGeom prst="rect">
            <a:avLst/>
          </a:prstGeom>
          <a:noFill/>
        </p:spPr>
        <p:txBody>
          <a:bodyPr wrap="square" anchor="t">
            <a:spAutoFit/>
          </a:bodyPr>
          <a:lstStyle/>
          <a:p>
            <a:pPr algn="l"/>
            <a:r>
              <a:rPr sz="1100" b="1">
                <a:solidFill>
                  <a:srgbClr val="744996"/>
                </a:solidFill>
                <a:latin typeface="Aptos"/>
              </a:rPr>
              <a:t>Key limitation</a:t>
            </a:r>
          </a:p>
        </p:txBody>
      </p:sp>
      <p:sp>
        <p:nvSpPr>
          <p:cNvPr id="19" name="TextBox 18"/>
          <p:cNvSpPr txBox="1"/>
          <p:nvPr/>
        </p:nvSpPr>
        <p:spPr>
          <a:xfrm>
            <a:off x="1965960" y="5193792"/>
            <a:ext cx="9235440" cy="502920"/>
          </a:xfrm>
          <a:prstGeom prst="rect">
            <a:avLst/>
          </a:prstGeom>
          <a:noFill/>
        </p:spPr>
        <p:txBody>
          <a:bodyPr wrap="square" anchor="t">
            <a:spAutoFit/>
          </a:bodyPr>
          <a:lstStyle/>
          <a:p>
            <a:pPr algn="l"/>
            <a:r>
              <a:rPr sz="1400" b="0">
                <a:solidFill>
                  <a:srgbClr val="231F29"/>
                </a:solidFill>
                <a:latin typeface="Aptos"/>
              </a:rPr>
              <a:t>The dataset is historical (2016), has uneven participant coverage, and does not represent Bellabeat customers directly.</a:t>
            </a:r>
          </a:p>
        </p:txBody>
      </p:sp>
      <p:sp>
        <p:nvSpPr>
          <p:cNvPr id="20" name="TextBox 19"/>
          <p:cNvSpPr txBox="1"/>
          <p:nvPr/>
        </p:nvSpPr>
        <p:spPr>
          <a:xfrm>
            <a:off x="11155680" y="6419088"/>
            <a:ext cx="457200" cy="182880"/>
          </a:xfrm>
          <a:prstGeom prst="rect">
            <a:avLst/>
          </a:prstGeom>
          <a:noFill/>
        </p:spPr>
        <p:txBody>
          <a:bodyPr wrap="square" anchor="t">
            <a:spAutoFit/>
          </a:bodyPr>
          <a:lstStyle/>
          <a:p>
            <a:pPr algn="r"/>
            <a:r>
              <a:rPr sz="800" b="1">
                <a:solidFill>
                  <a:srgbClr val="67616E"/>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p:spPr>
        <p:txBody>
          <a:bodyPr wrap="square" anchor="t">
            <a:spAutoFit/>
          </a:bodyPr>
          <a:lstStyle/>
          <a:p>
            <a:pPr algn="l"/>
            <a:r>
              <a:rPr sz="900" b="1">
                <a:solidFill>
                  <a:srgbClr val="744996"/>
                </a:solidFill>
                <a:latin typeface="Aptos"/>
              </a:rPr>
              <a:t>ANALYZE</a:t>
            </a:r>
          </a:p>
        </p:txBody>
      </p:sp>
      <p:sp>
        <p:nvSpPr>
          <p:cNvPr id="4" name="TextBox 3"/>
          <p:cNvSpPr txBox="1"/>
          <p:nvPr/>
        </p:nvSpPr>
        <p:spPr>
          <a:xfrm>
            <a:off x="594360" y="530352"/>
            <a:ext cx="10972800" cy="475488"/>
          </a:xfrm>
          <a:prstGeom prst="rect">
            <a:avLst/>
          </a:prstGeom>
          <a:noFill/>
        </p:spPr>
        <p:txBody>
          <a:bodyPr wrap="square" anchor="t">
            <a:spAutoFit/>
          </a:bodyPr>
          <a:lstStyle/>
          <a:p>
            <a:pPr algn="l"/>
            <a:r>
              <a:rPr sz="2400" b="1">
                <a:solidFill>
                  <a:srgbClr val="231F29"/>
                </a:solidFill>
                <a:latin typeface="Aptos Display"/>
              </a:rPr>
              <a:t>Device usage &amp; physical activity</a:t>
            </a:r>
          </a:p>
        </p:txBody>
      </p:sp>
      <p:sp>
        <p:nvSpPr>
          <p:cNvPr id="5" name="Rectangle 4"/>
          <p:cNvSpPr/>
          <p:nvPr/>
        </p:nvSpPr>
        <p:spPr>
          <a:xfrm>
            <a:off x="594360" y="1078992"/>
            <a:ext cx="502920" cy="45720"/>
          </a:xfrm>
          <a:prstGeom prst="rect">
            <a:avLst/>
          </a:prstGeom>
          <a:solidFill>
            <a:srgbClr val="744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2423160" cy="1024128"/>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453895"/>
            <a:ext cx="2093976" cy="438912"/>
          </a:xfrm>
          <a:prstGeom prst="rect">
            <a:avLst/>
          </a:prstGeom>
          <a:noFill/>
        </p:spPr>
        <p:txBody>
          <a:bodyPr wrap="square" anchor="t">
            <a:spAutoFit/>
          </a:bodyPr>
          <a:lstStyle/>
          <a:p>
            <a:pPr algn="l"/>
            <a:r>
              <a:rPr sz="2200" b="1">
                <a:solidFill>
                  <a:srgbClr val="744996"/>
                </a:solidFill>
                <a:latin typeface="Aptos"/>
              </a:rPr>
              <a:t>6,547</a:t>
            </a:r>
          </a:p>
        </p:txBody>
      </p:sp>
      <p:sp>
        <p:nvSpPr>
          <p:cNvPr id="8" name="TextBox 7"/>
          <p:cNvSpPr txBox="1"/>
          <p:nvPr/>
        </p:nvSpPr>
        <p:spPr>
          <a:xfrm>
            <a:off x="850392" y="1965960"/>
            <a:ext cx="2093976" cy="274320"/>
          </a:xfrm>
          <a:prstGeom prst="rect">
            <a:avLst/>
          </a:prstGeom>
          <a:noFill/>
        </p:spPr>
        <p:txBody>
          <a:bodyPr wrap="square" anchor="t">
            <a:spAutoFit/>
          </a:bodyPr>
          <a:lstStyle/>
          <a:p>
            <a:pPr algn="l"/>
            <a:r>
              <a:rPr sz="1000" b="1">
                <a:solidFill>
                  <a:srgbClr val="67616E"/>
                </a:solidFill>
                <a:latin typeface="Aptos"/>
              </a:rPr>
              <a:t>Avg. daily steps</a:t>
            </a:r>
          </a:p>
        </p:txBody>
      </p:sp>
      <p:sp>
        <p:nvSpPr>
          <p:cNvPr id="9" name="Rounded Rectangle 8"/>
          <p:cNvSpPr/>
          <p:nvPr/>
        </p:nvSpPr>
        <p:spPr>
          <a:xfrm>
            <a:off x="3291840" y="1325880"/>
            <a:ext cx="2423160" cy="1024128"/>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1453895"/>
            <a:ext cx="2093976" cy="438912"/>
          </a:xfrm>
          <a:prstGeom prst="rect">
            <a:avLst/>
          </a:prstGeom>
          <a:noFill/>
        </p:spPr>
        <p:txBody>
          <a:bodyPr wrap="square" anchor="t">
            <a:spAutoFit/>
          </a:bodyPr>
          <a:lstStyle/>
          <a:p>
            <a:pPr algn="l"/>
            <a:r>
              <a:rPr sz="2200" b="1">
                <a:solidFill>
                  <a:srgbClr val="4C8F8B"/>
                </a:solidFill>
                <a:latin typeface="Aptos"/>
              </a:rPr>
              <a:t>8–32 days</a:t>
            </a:r>
          </a:p>
        </p:txBody>
      </p:sp>
      <p:sp>
        <p:nvSpPr>
          <p:cNvPr id="11" name="TextBox 10"/>
          <p:cNvSpPr txBox="1"/>
          <p:nvPr/>
        </p:nvSpPr>
        <p:spPr>
          <a:xfrm>
            <a:off x="3456432" y="1965960"/>
            <a:ext cx="2093976" cy="274320"/>
          </a:xfrm>
          <a:prstGeom prst="rect">
            <a:avLst/>
          </a:prstGeom>
          <a:noFill/>
        </p:spPr>
        <p:txBody>
          <a:bodyPr wrap="square" anchor="t">
            <a:spAutoFit/>
          </a:bodyPr>
          <a:lstStyle/>
          <a:p>
            <a:pPr algn="l"/>
            <a:r>
              <a:rPr sz="1000" b="1">
                <a:solidFill>
                  <a:srgbClr val="67616E"/>
                </a:solidFill>
                <a:latin typeface="Aptos"/>
              </a:rPr>
              <a:t>Coverage range</a:t>
            </a:r>
          </a:p>
        </p:txBody>
      </p:sp>
      <p:sp>
        <p:nvSpPr>
          <p:cNvPr id="12" name="Rounded Rectangle 11"/>
          <p:cNvSpPr/>
          <p:nvPr/>
        </p:nvSpPr>
        <p:spPr>
          <a:xfrm>
            <a:off x="5897880" y="1325880"/>
            <a:ext cx="2423160" cy="1024128"/>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62472" y="1453895"/>
            <a:ext cx="2093976" cy="438912"/>
          </a:xfrm>
          <a:prstGeom prst="rect">
            <a:avLst/>
          </a:prstGeom>
          <a:noFill/>
        </p:spPr>
        <p:txBody>
          <a:bodyPr wrap="square" anchor="t">
            <a:spAutoFit/>
          </a:bodyPr>
          <a:lstStyle/>
          <a:p>
            <a:pPr algn="l"/>
            <a:r>
              <a:rPr sz="2200" b="1">
                <a:solidFill>
                  <a:srgbClr val="744996"/>
                </a:solidFill>
                <a:latin typeface="Aptos"/>
              </a:rPr>
              <a:t>52.74%</a:t>
            </a:r>
          </a:p>
        </p:txBody>
      </p:sp>
      <p:sp>
        <p:nvSpPr>
          <p:cNvPr id="14" name="TextBox 13"/>
          <p:cNvSpPr txBox="1"/>
          <p:nvPr/>
        </p:nvSpPr>
        <p:spPr>
          <a:xfrm>
            <a:off x="6062472" y="1965960"/>
            <a:ext cx="2093976" cy="274320"/>
          </a:xfrm>
          <a:prstGeom prst="rect">
            <a:avLst/>
          </a:prstGeom>
          <a:noFill/>
        </p:spPr>
        <p:txBody>
          <a:bodyPr wrap="square" anchor="t">
            <a:spAutoFit/>
          </a:bodyPr>
          <a:lstStyle/>
          <a:p>
            <a:pPr algn="l"/>
            <a:r>
              <a:rPr sz="1000" b="1">
                <a:solidFill>
                  <a:srgbClr val="67616E"/>
                </a:solidFill>
                <a:latin typeface="Aptos"/>
              </a:rPr>
              <a:t>Zero very-active</a:t>
            </a:r>
          </a:p>
        </p:txBody>
      </p:sp>
      <p:sp>
        <p:nvSpPr>
          <p:cNvPr id="15" name="Rounded Rectangle 14"/>
          <p:cNvSpPr/>
          <p:nvPr/>
        </p:nvSpPr>
        <p:spPr>
          <a:xfrm>
            <a:off x="8503920" y="1325880"/>
            <a:ext cx="2423160" cy="1024128"/>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68512" y="1453895"/>
            <a:ext cx="2093976" cy="438912"/>
          </a:xfrm>
          <a:prstGeom prst="rect">
            <a:avLst/>
          </a:prstGeom>
          <a:noFill/>
        </p:spPr>
        <p:txBody>
          <a:bodyPr wrap="square" anchor="t">
            <a:spAutoFit/>
          </a:bodyPr>
          <a:lstStyle/>
          <a:p>
            <a:pPr algn="l"/>
            <a:r>
              <a:rPr sz="2200" b="1">
                <a:solidFill>
                  <a:srgbClr val="4C8F8B"/>
                </a:solidFill>
                <a:latin typeface="Aptos"/>
              </a:rPr>
              <a:t>5,946</a:t>
            </a:r>
          </a:p>
        </p:txBody>
      </p:sp>
      <p:sp>
        <p:nvSpPr>
          <p:cNvPr id="17" name="TextBox 16"/>
          <p:cNvSpPr txBox="1"/>
          <p:nvPr/>
        </p:nvSpPr>
        <p:spPr>
          <a:xfrm>
            <a:off x="8668512" y="1965960"/>
            <a:ext cx="2093976" cy="274320"/>
          </a:xfrm>
          <a:prstGeom prst="rect">
            <a:avLst/>
          </a:prstGeom>
          <a:noFill/>
        </p:spPr>
        <p:txBody>
          <a:bodyPr wrap="square" anchor="t">
            <a:spAutoFit/>
          </a:bodyPr>
          <a:lstStyle/>
          <a:p>
            <a:pPr algn="l"/>
            <a:r>
              <a:rPr sz="1000" b="1">
                <a:solidFill>
                  <a:srgbClr val="67616E"/>
                </a:solidFill>
                <a:latin typeface="Aptos"/>
              </a:rPr>
              <a:t>Median steps</a:t>
            </a:r>
          </a:p>
        </p:txBody>
      </p:sp>
      <p:sp>
        <p:nvSpPr>
          <p:cNvPr id="18" name="TextBox 17"/>
          <p:cNvSpPr txBox="1"/>
          <p:nvPr/>
        </p:nvSpPr>
        <p:spPr>
          <a:xfrm>
            <a:off x="713232" y="2697480"/>
            <a:ext cx="5212080" cy="320040"/>
          </a:xfrm>
          <a:prstGeom prst="rect">
            <a:avLst/>
          </a:prstGeom>
          <a:noFill/>
        </p:spPr>
        <p:txBody>
          <a:bodyPr wrap="square" anchor="t">
            <a:spAutoFit/>
          </a:bodyPr>
          <a:lstStyle/>
          <a:p>
            <a:pPr algn="l"/>
            <a:r>
              <a:rPr sz="1300" b="1">
                <a:solidFill>
                  <a:srgbClr val="231F29"/>
                </a:solidFill>
                <a:latin typeface="Aptos"/>
              </a:rPr>
              <a:t>Average daily minutes by activity level</a:t>
            </a:r>
          </a:p>
        </p:txBody>
      </p:sp>
      <p:graphicFrame>
        <p:nvGraphicFramePr>
          <p:cNvPr id="19" name="Chart 18"/>
          <p:cNvGraphicFramePr>
            <a:graphicFrameLocks noGrp="1"/>
          </p:cNvGraphicFramePr>
          <p:nvPr/>
        </p:nvGraphicFramePr>
        <p:xfrm>
          <a:off x="685800" y="3063240"/>
          <a:ext cx="5212080" cy="2514600"/>
        </p:xfrm>
        <a:graphic>
          <a:graphicData uri="http://schemas.openxmlformats.org/drawingml/2006/chart">
            <c:chart xmlns:c="http://schemas.openxmlformats.org/drawingml/2006/chart" r:id="rId2"/>
          </a:graphicData>
        </a:graphic>
      </p:graphicFrame>
      <p:sp>
        <p:nvSpPr>
          <p:cNvPr id="20" name="Rounded Rectangle 19"/>
          <p:cNvSpPr/>
          <p:nvPr/>
        </p:nvSpPr>
        <p:spPr>
          <a:xfrm>
            <a:off x="6217920" y="2834640"/>
            <a:ext cx="5029200" cy="233172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990088"/>
            <a:ext cx="4663440" cy="292608"/>
          </a:xfrm>
          <a:prstGeom prst="rect">
            <a:avLst/>
          </a:prstGeom>
          <a:noFill/>
        </p:spPr>
        <p:txBody>
          <a:bodyPr wrap="square" anchor="t">
            <a:spAutoFit/>
          </a:bodyPr>
          <a:lstStyle/>
          <a:p>
            <a:pPr algn="l"/>
            <a:r>
              <a:rPr sz="1200" b="1">
                <a:solidFill>
                  <a:srgbClr val="4C8F8B"/>
                </a:solidFill>
                <a:latin typeface="Aptos"/>
              </a:rPr>
              <a:t>Interpretation</a:t>
            </a:r>
          </a:p>
        </p:txBody>
      </p:sp>
      <p:sp>
        <p:nvSpPr>
          <p:cNvPr id="22" name="TextBox 21"/>
          <p:cNvSpPr txBox="1"/>
          <p:nvPr/>
        </p:nvSpPr>
        <p:spPr>
          <a:xfrm>
            <a:off x="6400800" y="3364992"/>
            <a:ext cx="4663440" cy="1691639"/>
          </a:xfrm>
          <a:prstGeom prst="rect">
            <a:avLst/>
          </a:prstGeom>
          <a:noFill/>
        </p:spPr>
        <p:txBody>
          <a:bodyPr wrap="square" anchor="t">
            <a:spAutoFit/>
          </a:bodyPr>
          <a:lstStyle/>
          <a:p>
            <a:pPr algn="l"/>
            <a:r>
              <a:rPr sz="1050" b="0">
                <a:solidFill>
                  <a:srgbClr val="231F29"/>
                </a:solidFill>
                <a:latin typeface="Aptos"/>
              </a:rPr>
              <a:t>Recorded daily time was dominated by sedentary and light activity. Moderate and higher-intensity activity occurred less consistently.
Coverage varied substantially across participants, so recorded days should not be treated as confirmed device-wearing days.</a:t>
            </a:r>
          </a:p>
        </p:txBody>
      </p:sp>
      <p:sp>
        <p:nvSpPr>
          <p:cNvPr id="23" name="TextBox 22"/>
          <p:cNvSpPr txBox="1"/>
          <p:nvPr/>
        </p:nvSpPr>
        <p:spPr>
          <a:xfrm>
            <a:off x="11155680" y="6419088"/>
            <a:ext cx="457200" cy="182880"/>
          </a:xfrm>
          <a:prstGeom prst="rect">
            <a:avLst/>
          </a:prstGeom>
          <a:noFill/>
        </p:spPr>
        <p:txBody>
          <a:bodyPr wrap="square" anchor="t">
            <a:spAutoFit/>
          </a:bodyPr>
          <a:lstStyle/>
          <a:p>
            <a:pPr algn="r"/>
            <a:r>
              <a:rPr sz="800" b="1">
                <a:solidFill>
                  <a:srgbClr val="67616E"/>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p:spPr>
        <p:txBody>
          <a:bodyPr wrap="square" anchor="t">
            <a:spAutoFit/>
          </a:bodyPr>
          <a:lstStyle/>
          <a:p>
            <a:pPr algn="l"/>
            <a:r>
              <a:rPr sz="900" b="1">
                <a:solidFill>
                  <a:srgbClr val="744996"/>
                </a:solidFill>
                <a:latin typeface="Aptos"/>
              </a:rPr>
              <a:t>ANALYZE</a:t>
            </a:r>
          </a:p>
        </p:txBody>
      </p:sp>
      <p:sp>
        <p:nvSpPr>
          <p:cNvPr id="4" name="TextBox 3"/>
          <p:cNvSpPr txBox="1"/>
          <p:nvPr/>
        </p:nvSpPr>
        <p:spPr>
          <a:xfrm>
            <a:off x="594360" y="530352"/>
            <a:ext cx="10972800" cy="475488"/>
          </a:xfrm>
          <a:prstGeom prst="rect">
            <a:avLst/>
          </a:prstGeom>
          <a:noFill/>
        </p:spPr>
        <p:txBody>
          <a:bodyPr wrap="square" anchor="t">
            <a:spAutoFit/>
          </a:bodyPr>
          <a:lstStyle/>
          <a:p>
            <a:pPr algn="l"/>
            <a:r>
              <a:rPr sz="2400" b="1">
                <a:solidFill>
                  <a:srgbClr val="231F29"/>
                </a:solidFill>
                <a:latin typeface="Aptos Display"/>
              </a:rPr>
              <a:t>Sleep &amp; calorie patterns</a:t>
            </a:r>
          </a:p>
        </p:txBody>
      </p:sp>
      <p:sp>
        <p:nvSpPr>
          <p:cNvPr id="5" name="Rectangle 4"/>
          <p:cNvSpPr/>
          <p:nvPr/>
        </p:nvSpPr>
        <p:spPr>
          <a:xfrm>
            <a:off x="594360" y="1078992"/>
            <a:ext cx="502920" cy="45720"/>
          </a:xfrm>
          <a:prstGeom prst="rect">
            <a:avLst/>
          </a:prstGeom>
          <a:solidFill>
            <a:srgbClr val="744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2423160" cy="1024128"/>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453895"/>
            <a:ext cx="2093976" cy="438912"/>
          </a:xfrm>
          <a:prstGeom prst="rect">
            <a:avLst/>
          </a:prstGeom>
          <a:noFill/>
        </p:spPr>
        <p:txBody>
          <a:bodyPr wrap="square" anchor="t">
            <a:spAutoFit/>
          </a:bodyPr>
          <a:lstStyle/>
          <a:p>
            <a:pPr algn="l"/>
            <a:r>
              <a:rPr sz="2200" b="1">
                <a:solidFill>
                  <a:srgbClr val="4C8F8B"/>
                </a:solidFill>
                <a:latin typeface="Aptos"/>
              </a:rPr>
              <a:t>6h 59m</a:t>
            </a:r>
          </a:p>
        </p:txBody>
      </p:sp>
      <p:sp>
        <p:nvSpPr>
          <p:cNvPr id="8" name="TextBox 7"/>
          <p:cNvSpPr txBox="1"/>
          <p:nvPr/>
        </p:nvSpPr>
        <p:spPr>
          <a:xfrm>
            <a:off x="850392" y="1965960"/>
            <a:ext cx="2093976" cy="274320"/>
          </a:xfrm>
          <a:prstGeom prst="rect">
            <a:avLst/>
          </a:prstGeom>
          <a:noFill/>
        </p:spPr>
        <p:txBody>
          <a:bodyPr wrap="square" anchor="t">
            <a:spAutoFit/>
          </a:bodyPr>
          <a:lstStyle/>
          <a:p>
            <a:pPr algn="l"/>
            <a:r>
              <a:rPr sz="1000" b="1">
                <a:solidFill>
                  <a:srgbClr val="67616E"/>
                </a:solidFill>
                <a:latin typeface="Aptos"/>
              </a:rPr>
              <a:t>Avg. sleep</a:t>
            </a:r>
          </a:p>
        </p:txBody>
      </p:sp>
      <p:sp>
        <p:nvSpPr>
          <p:cNvPr id="9" name="Rounded Rectangle 8"/>
          <p:cNvSpPr/>
          <p:nvPr/>
        </p:nvSpPr>
        <p:spPr>
          <a:xfrm>
            <a:off x="3291840" y="1325880"/>
            <a:ext cx="2423160" cy="1024128"/>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1453895"/>
            <a:ext cx="2093976" cy="438912"/>
          </a:xfrm>
          <a:prstGeom prst="rect">
            <a:avLst/>
          </a:prstGeom>
          <a:noFill/>
        </p:spPr>
        <p:txBody>
          <a:bodyPr wrap="square" anchor="t">
            <a:spAutoFit/>
          </a:bodyPr>
          <a:lstStyle/>
          <a:p>
            <a:pPr algn="l"/>
            <a:r>
              <a:rPr sz="2200" b="1">
                <a:solidFill>
                  <a:srgbClr val="744996"/>
                </a:solidFill>
                <a:latin typeface="Aptos"/>
              </a:rPr>
              <a:t>91.65%</a:t>
            </a:r>
          </a:p>
        </p:txBody>
      </p:sp>
      <p:sp>
        <p:nvSpPr>
          <p:cNvPr id="11" name="TextBox 10"/>
          <p:cNvSpPr txBox="1"/>
          <p:nvPr/>
        </p:nvSpPr>
        <p:spPr>
          <a:xfrm>
            <a:off x="3456432" y="1965960"/>
            <a:ext cx="2093976" cy="274320"/>
          </a:xfrm>
          <a:prstGeom prst="rect">
            <a:avLst/>
          </a:prstGeom>
          <a:noFill/>
        </p:spPr>
        <p:txBody>
          <a:bodyPr wrap="square" anchor="t">
            <a:spAutoFit/>
          </a:bodyPr>
          <a:lstStyle/>
          <a:p>
            <a:pPr algn="l"/>
            <a:r>
              <a:rPr sz="1000" b="1">
                <a:solidFill>
                  <a:srgbClr val="67616E"/>
                </a:solidFill>
                <a:latin typeface="Aptos"/>
              </a:rPr>
              <a:t>Sleep efficiency</a:t>
            </a:r>
          </a:p>
        </p:txBody>
      </p:sp>
      <p:sp>
        <p:nvSpPr>
          <p:cNvPr id="12" name="Rounded Rectangle 11"/>
          <p:cNvSpPr/>
          <p:nvPr/>
        </p:nvSpPr>
        <p:spPr>
          <a:xfrm>
            <a:off x="5897880" y="1325880"/>
            <a:ext cx="2423160" cy="1024128"/>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62472" y="1453895"/>
            <a:ext cx="2093976" cy="438912"/>
          </a:xfrm>
          <a:prstGeom prst="rect">
            <a:avLst/>
          </a:prstGeom>
          <a:noFill/>
        </p:spPr>
        <p:txBody>
          <a:bodyPr wrap="square" anchor="t">
            <a:spAutoFit/>
          </a:bodyPr>
          <a:lstStyle/>
          <a:p>
            <a:pPr algn="l"/>
            <a:r>
              <a:rPr sz="2200" b="1">
                <a:solidFill>
                  <a:srgbClr val="4C8F8B"/>
                </a:solidFill>
                <a:latin typeface="Aptos"/>
              </a:rPr>
              <a:t>2,189</a:t>
            </a:r>
          </a:p>
        </p:txBody>
      </p:sp>
      <p:sp>
        <p:nvSpPr>
          <p:cNvPr id="14" name="TextBox 13"/>
          <p:cNvSpPr txBox="1"/>
          <p:nvPr/>
        </p:nvSpPr>
        <p:spPr>
          <a:xfrm>
            <a:off x="6062472" y="1965960"/>
            <a:ext cx="2093976" cy="274320"/>
          </a:xfrm>
          <a:prstGeom prst="rect">
            <a:avLst/>
          </a:prstGeom>
          <a:noFill/>
        </p:spPr>
        <p:txBody>
          <a:bodyPr wrap="square" anchor="t">
            <a:spAutoFit/>
          </a:bodyPr>
          <a:lstStyle/>
          <a:p>
            <a:pPr algn="l"/>
            <a:r>
              <a:rPr sz="1000" b="1">
                <a:solidFill>
                  <a:srgbClr val="67616E"/>
                </a:solidFill>
                <a:latin typeface="Aptos"/>
              </a:rPr>
              <a:t>Avg. calories</a:t>
            </a:r>
          </a:p>
        </p:txBody>
      </p:sp>
      <p:sp>
        <p:nvSpPr>
          <p:cNvPr id="15" name="Rounded Rectangle 14"/>
          <p:cNvSpPr/>
          <p:nvPr/>
        </p:nvSpPr>
        <p:spPr>
          <a:xfrm>
            <a:off x="8503920" y="1325880"/>
            <a:ext cx="2423160" cy="1024128"/>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68512" y="1453895"/>
            <a:ext cx="2093976" cy="438912"/>
          </a:xfrm>
          <a:prstGeom prst="rect">
            <a:avLst/>
          </a:prstGeom>
          <a:noFill/>
        </p:spPr>
        <p:txBody>
          <a:bodyPr wrap="square" anchor="t">
            <a:spAutoFit/>
          </a:bodyPr>
          <a:lstStyle/>
          <a:p>
            <a:pPr algn="l"/>
            <a:r>
              <a:rPr sz="2200" b="1">
                <a:solidFill>
                  <a:srgbClr val="744996"/>
                </a:solidFill>
                <a:latin typeface="Aptos"/>
              </a:rPr>
              <a:t>r = 0.581</a:t>
            </a:r>
          </a:p>
        </p:txBody>
      </p:sp>
      <p:sp>
        <p:nvSpPr>
          <p:cNvPr id="17" name="TextBox 16"/>
          <p:cNvSpPr txBox="1"/>
          <p:nvPr/>
        </p:nvSpPr>
        <p:spPr>
          <a:xfrm>
            <a:off x="8668512" y="1965960"/>
            <a:ext cx="2093976" cy="274320"/>
          </a:xfrm>
          <a:prstGeom prst="rect">
            <a:avLst/>
          </a:prstGeom>
          <a:noFill/>
        </p:spPr>
        <p:txBody>
          <a:bodyPr wrap="square" anchor="t">
            <a:spAutoFit/>
          </a:bodyPr>
          <a:lstStyle/>
          <a:p>
            <a:pPr algn="l"/>
            <a:r>
              <a:rPr sz="1000" b="1">
                <a:solidFill>
                  <a:srgbClr val="67616E"/>
                </a:solidFill>
                <a:latin typeface="Aptos"/>
              </a:rPr>
              <a:t>Steps ↔ calories</a:t>
            </a:r>
          </a:p>
        </p:txBody>
      </p:sp>
      <p:sp>
        <p:nvSpPr>
          <p:cNvPr id="18" name="Rounded Rectangle 17"/>
          <p:cNvSpPr/>
          <p:nvPr/>
        </p:nvSpPr>
        <p:spPr>
          <a:xfrm>
            <a:off x="731520" y="2743200"/>
            <a:ext cx="5074920" cy="242316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898648"/>
            <a:ext cx="4709159" cy="292608"/>
          </a:xfrm>
          <a:prstGeom prst="rect">
            <a:avLst/>
          </a:prstGeom>
          <a:noFill/>
        </p:spPr>
        <p:txBody>
          <a:bodyPr wrap="square" anchor="t">
            <a:spAutoFit/>
          </a:bodyPr>
          <a:lstStyle/>
          <a:p>
            <a:pPr algn="l"/>
            <a:r>
              <a:rPr sz="1200" b="1">
                <a:solidFill>
                  <a:srgbClr val="4C8F8B"/>
                </a:solidFill>
                <a:latin typeface="Aptos"/>
              </a:rPr>
              <a:t>Sleep</a:t>
            </a:r>
          </a:p>
        </p:txBody>
      </p:sp>
      <p:sp>
        <p:nvSpPr>
          <p:cNvPr id="20" name="TextBox 19"/>
          <p:cNvSpPr txBox="1"/>
          <p:nvPr/>
        </p:nvSpPr>
        <p:spPr>
          <a:xfrm>
            <a:off x="914400" y="3273552"/>
            <a:ext cx="4709159" cy="1783080"/>
          </a:xfrm>
          <a:prstGeom prst="rect">
            <a:avLst/>
          </a:prstGeom>
          <a:noFill/>
        </p:spPr>
        <p:txBody>
          <a:bodyPr wrap="square" anchor="t">
            <a:spAutoFit/>
          </a:bodyPr>
          <a:lstStyle/>
          <a:p>
            <a:pPr algn="l"/>
            <a:r>
              <a:rPr sz="1050" b="0">
                <a:solidFill>
                  <a:srgbClr val="231F29"/>
                </a:solidFill>
                <a:latin typeface="Aptos"/>
              </a:rPr>
              <a:t>Sleep duration ranged from 58 to 796 minutes, showing substantial variation across observations. Average time in bed was about 7h 38m.
Because only 12 daily activity records matched sleep observations, activity–sleep relationships were not generalized.</a:t>
            </a:r>
          </a:p>
        </p:txBody>
      </p:sp>
      <p:sp>
        <p:nvSpPr>
          <p:cNvPr id="21" name="Rounded Rectangle 20"/>
          <p:cNvSpPr/>
          <p:nvPr/>
        </p:nvSpPr>
        <p:spPr>
          <a:xfrm>
            <a:off x="6172200" y="2743200"/>
            <a:ext cx="5074920" cy="242316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2898648"/>
            <a:ext cx="4709159" cy="292608"/>
          </a:xfrm>
          <a:prstGeom prst="rect">
            <a:avLst/>
          </a:prstGeom>
          <a:noFill/>
        </p:spPr>
        <p:txBody>
          <a:bodyPr wrap="square" anchor="t">
            <a:spAutoFit/>
          </a:bodyPr>
          <a:lstStyle/>
          <a:p>
            <a:pPr algn="l"/>
            <a:r>
              <a:rPr sz="1200" b="1">
                <a:solidFill>
                  <a:srgbClr val="744996"/>
                </a:solidFill>
                <a:latin typeface="Aptos"/>
              </a:rPr>
              <a:t>Calories</a:t>
            </a:r>
          </a:p>
        </p:txBody>
      </p:sp>
      <p:sp>
        <p:nvSpPr>
          <p:cNvPr id="23" name="TextBox 22"/>
          <p:cNvSpPr txBox="1"/>
          <p:nvPr/>
        </p:nvSpPr>
        <p:spPr>
          <a:xfrm>
            <a:off x="6355080" y="3273552"/>
            <a:ext cx="4709159" cy="1783080"/>
          </a:xfrm>
          <a:prstGeom prst="rect">
            <a:avLst/>
          </a:prstGeom>
          <a:noFill/>
        </p:spPr>
        <p:txBody>
          <a:bodyPr wrap="square" anchor="t">
            <a:spAutoFit/>
          </a:bodyPr>
          <a:lstStyle/>
          <a:p>
            <a:pPr algn="l"/>
            <a:r>
              <a:rPr sz="1050" b="0">
                <a:solidFill>
                  <a:srgbClr val="231F29"/>
                </a:solidFill>
                <a:latin typeface="Aptos"/>
              </a:rPr>
              <a:t>Daily steps showed the strongest positive relationship with calorie expenditure among the activity measures examined. The scatter-plot model produced R² = 0.338.
These results indicate association, not causation.</a:t>
            </a:r>
          </a:p>
        </p:txBody>
      </p:sp>
      <p:sp>
        <p:nvSpPr>
          <p:cNvPr id="24" name="TextBox 23"/>
          <p:cNvSpPr txBox="1"/>
          <p:nvPr/>
        </p:nvSpPr>
        <p:spPr>
          <a:xfrm>
            <a:off x="11155680" y="6419088"/>
            <a:ext cx="457200" cy="182880"/>
          </a:xfrm>
          <a:prstGeom prst="rect">
            <a:avLst/>
          </a:prstGeom>
          <a:noFill/>
        </p:spPr>
        <p:txBody>
          <a:bodyPr wrap="square" anchor="t">
            <a:spAutoFit/>
          </a:bodyPr>
          <a:lstStyle/>
          <a:p>
            <a:pPr algn="r"/>
            <a:r>
              <a:rPr sz="800" b="1">
                <a:solidFill>
                  <a:srgbClr val="67616E"/>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p:spPr>
        <p:txBody>
          <a:bodyPr wrap="square" anchor="t">
            <a:spAutoFit/>
          </a:bodyPr>
          <a:lstStyle/>
          <a:p>
            <a:pPr algn="l"/>
            <a:r>
              <a:rPr sz="900" b="1">
                <a:solidFill>
                  <a:srgbClr val="744996"/>
                </a:solidFill>
                <a:latin typeface="Aptos"/>
              </a:rPr>
              <a:t>ANALYZE</a:t>
            </a:r>
          </a:p>
        </p:txBody>
      </p:sp>
      <p:sp>
        <p:nvSpPr>
          <p:cNvPr id="4" name="TextBox 3"/>
          <p:cNvSpPr txBox="1"/>
          <p:nvPr/>
        </p:nvSpPr>
        <p:spPr>
          <a:xfrm>
            <a:off x="594360" y="530352"/>
            <a:ext cx="10972800" cy="475488"/>
          </a:xfrm>
          <a:prstGeom prst="rect">
            <a:avLst/>
          </a:prstGeom>
          <a:noFill/>
        </p:spPr>
        <p:txBody>
          <a:bodyPr wrap="square" anchor="t">
            <a:spAutoFit/>
          </a:bodyPr>
          <a:lstStyle/>
          <a:p>
            <a:pPr algn="l"/>
            <a:r>
              <a:rPr sz="2400" b="1">
                <a:solidFill>
                  <a:srgbClr val="231F29"/>
                </a:solidFill>
                <a:latin typeface="Aptos Display"/>
              </a:rPr>
              <a:t>Time-of-day behavior</a:t>
            </a:r>
          </a:p>
        </p:txBody>
      </p:sp>
      <p:sp>
        <p:nvSpPr>
          <p:cNvPr id="5" name="Rectangle 4"/>
          <p:cNvSpPr/>
          <p:nvPr/>
        </p:nvSpPr>
        <p:spPr>
          <a:xfrm>
            <a:off x="594360" y="1078992"/>
            <a:ext cx="502920" cy="45720"/>
          </a:xfrm>
          <a:prstGeom prst="rect">
            <a:avLst/>
          </a:prstGeom>
          <a:solidFill>
            <a:srgbClr val="744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85800" y="1417320"/>
          <a:ext cx="7315200" cy="4160520"/>
        </p:xfrm>
        <a:graphic>
          <a:graphicData uri="http://schemas.openxmlformats.org/drawingml/2006/chart">
            <c:chart xmlns:c="http://schemas.openxmlformats.org/drawingml/2006/chart" r:id="rId2"/>
          </a:graphicData>
        </a:graphic>
      </p:graphicFrame>
      <p:sp>
        <p:nvSpPr>
          <p:cNvPr id="7" name="Rounded Rectangle 6"/>
          <p:cNvSpPr/>
          <p:nvPr/>
        </p:nvSpPr>
        <p:spPr>
          <a:xfrm>
            <a:off x="8321040" y="1508760"/>
            <a:ext cx="3063240" cy="123444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85632" y="1636776"/>
            <a:ext cx="2734056" cy="438912"/>
          </a:xfrm>
          <a:prstGeom prst="rect">
            <a:avLst/>
          </a:prstGeom>
          <a:noFill/>
        </p:spPr>
        <p:txBody>
          <a:bodyPr wrap="square" anchor="t">
            <a:spAutoFit/>
          </a:bodyPr>
          <a:lstStyle/>
          <a:p>
            <a:pPr algn="l"/>
            <a:r>
              <a:rPr sz="2200" b="1">
                <a:solidFill>
                  <a:srgbClr val="4C8F8B"/>
                </a:solidFill>
                <a:latin typeface="Aptos"/>
              </a:rPr>
              <a:t>~3 AM</a:t>
            </a:r>
          </a:p>
        </p:txBody>
      </p:sp>
      <p:sp>
        <p:nvSpPr>
          <p:cNvPr id="9" name="TextBox 8"/>
          <p:cNvSpPr txBox="1"/>
          <p:nvPr/>
        </p:nvSpPr>
        <p:spPr>
          <a:xfrm>
            <a:off x="8485632" y="2148839"/>
            <a:ext cx="2734056" cy="274320"/>
          </a:xfrm>
          <a:prstGeom prst="rect">
            <a:avLst/>
          </a:prstGeom>
          <a:noFill/>
        </p:spPr>
        <p:txBody>
          <a:bodyPr wrap="square" anchor="t">
            <a:spAutoFit/>
          </a:bodyPr>
          <a:lstStyle/>
          <a:p>
            <a:pPr algn="l"/>
            <a:r>
              <a:rPr sz="1000" b="1">
                <a:solidFill>
                  <a:srgbClr val="67616E"/>
                </a:solidFill>
                <a:latin typeface="Aptos"/>
              </a:rPr>
              <a:t>Lowest activity</a:t>
            </a:r>
          </a:p>
        </p:txBody>
      </p:sp>
      <p:sp>
        <p:nvSpPr>
          <p:cNvPr id="10" name="Rounded Rectangle 9"/>
          <p:cNvSpPr/>
          <p:nvPr/>
        </p:nvSpPr>
        <p:spPr>
          <a:xfrm>
            <a:off x="8321040" y="2926080"/>
            <a:ext cx="3063240" cy="123444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85632" y="3054096"/>
            <a:ext cx="2734056" cy="438912"/>
          </a:xfrm>
          <a:prstGeom prst="rect">
            <a:avLst/>
          </a:prstGeom>
          <a:noFill/>
        </p:spPr>
        <p:txBody>
          <a:bodyPr wrap="square" anchor="t">
            <a:spAutoFit/>
          </a:bodyPr>
          <a:lstStyle/>
          <a:p>
            <a:pPr algn="l"/>
            <a:r>
              <a:rPr sz="2200" b="1">
                <a:solidFill>
                  <a:srgbClr val="744996"/>
                </a:solidFill>
                <a:latin typeface="Aptos"/>
              </a:rPr>
              <a:t>~7 PM</a:t>
            </a:r>
          </a:p>
        </p:txBody>
      </p:sp>
      <p:sp>
        <p:nvSpPr>
          <p:cNvPr id="12" name="TextBox 11"/>
          <p:cNvSpPr txBox="1"/>
          <p:nvPr/>
        </p:nvSpPr>
        <p:spPr>
          <a:xfrm>
            <a:off x="8485632" y="3566160"/>
            <a:ext cx="2734056" cy="274320"/>
          </a:xfrm>
          <a:prstGeom prst="rect">
            <a:avLst/>
          </a:prstGeom>
          <a:noFill/>
        </p:spPr>
        <p:txBody>
          <a:bodyPr wrap="square" anchor="t">
            <a:spAutoFit/>
          </a:bodyPr>
          <a:lstStyle/>
          <a:p>
            <a:pPr algn="l"/>
            <a:r>
              <a:rPr sz="1000" b="1">
                <a:solidFill>
                  <a:srgbClr val="67616E"/>
                </a:solidFill>
                <a:latin typeface="Aptos"/>
              </a:rPr>
              <a:t>Highest average</a:t>
            </a:r>
          </a:p>
        </p:txBody>
      </p:sp>
      <p:sp>
        <p:nvSpPr>
          <p:cNvPr id="13" name="TextBox 12"/>
          <p:cNvSpPr txBox="1"/>
          <p:nvPr/>
        </p:nvSpPr>
        <p:spPr>
          <a:xfrm>
            <a:off x="8339327" y="4572000"/>
            <a:ext cx="2971800" cy="1051560"/>
          </a:xfrm>
          <a:prstGeom prst="rect">
            <a:avLst/>
          </a:prstGeom>
          <a:noFill/>
        </p:spPr>
        <p:txBody>
          <a:bodyPr wrap="square" anchor="t">
            <a:spAutoFit/>
          </a:bodyPr>
          <a:lstStyle/>
          <a:p>
            <a:pPr algn="l"/>
            <a:r>
              <a:rPr sz="1200" b="0">
                <a:solidFill>
                  <a:srgbClr val="231F29"/>
                </a:solidFill>
                <a:latin typeface="Aptos"/>
              </a:rPr>
              <a:t>Activity was lowest overnight, rose substantially from around 6 AM, remained elevated through the day, and reached its highest hourly average at 7 PM (~529 steps).</a:t>
            </a:r>
          </a:p>
        </p:txBody>
      </p:sp>
      <p:sp>
        <p:nvSpPr>
          <p:cNvPr id="14" name="TextBox 13"/>
          <p:cNvSpPr txBox="1"/>
          <p:nvPr/>
        </p:nvSpPr>
        <p:spPr>
          <a:xfrm>
            <a:off x="11155680" y="6419088"/>
            <a:ext cx="457200" cy="182880"/>
          </a:xfrm>
          <a:prstGeom prst="rect">
            <a:avLst/>
          </a:prstGeom>
          <a:noFill/>
        </p:spPr>
        <p:txBody>
          <a:bodyPr wrap="square" anchor="t">
            <a:spAutoFit/>
          </a:bodyPr>
          <a:lstStyle/>
          <a:p>
            <a:pPr algn="r"/>
            <a:r>
              <a:rPr sz="800" b="1">
                <a:solidFill>
                  <a:srgbClr val="67616E"/>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p:spPr>
        <p:txBody>
          <a:bodyPr wrap="square" anchor="t">
            <a:spAutoFit/>
          </a:bodyPr>
          <a:lstStyle/>
          <a:p>
            <a:pPr algn="l"/>
            <a:r>
              <a:rPr sz="900" b="1">
                <a:solidFill>
                  <a:srgbClr val="744996"/>
                </a:solidFill>
                <a:latin typeface="Aptos"/>
              </a:rPr>
              <a:t>SHARE</a:t>
            </a:r>
          </a:p>
        </p:txBody>
      </p:sp>
      <p:sp>
        <p:nvSpPr>
          <p:cNvPr id="4" name="TextBox 3"/>
          <p:cNvSpPr txBox="1"/>
          <p:nvPr/>
        </p:nvSpPr>
        <p:spPr>
          <a:xfrm>
            <a:off x="594360" y="530352"/>
            <a:ext cx="10972800" cy="475488"/>
          </a:xfrm>
          <a:prstGeom prst="rect">
            <a:avLst/>
          </a:prstGeom>
          <a:noFill/>
        </p:spPr>
        <p:txBody>
          <a:bodyPr wrap="square" anchor="t">
            <a:spAutoFit/>
          </a:bodyPr>
          <a:lstStyle/>
          <a:p>
            <a:pPr algn="l"/>
            <a:r>
              <a:rPr sz="2400" b="1">
                <a:solidFill>
                  <a:srgbClr val="231F29"/>
                </a:solidFill>
                <a:latin typeface="Aptos Display"/>
              </a:rPr>
              <a:t>Interactive Power BI dashboard</a:t>
            </a:r>
          </a:p>
        </p:txBody>
      </p:sp>
      <p:sp>
        <p:nvSpPr>
          <p:cNvPr id="5" name="Rectangle 4"/>
          <p:cNvSpPr/>
          <p:nvPr/>
        </p:nvSpPr>
        <p:spPr>
          <a:xfrm>
            <a:off x="594360" y="1078992"/>
            <a:ext cx="502920" cy="45720"/>
          </a:xfrm>
          <a:prstGeom prst="rect">
            <a:avLst/>
          </a:prstGeom>
          <a:solidFill>
            <a:srgbClr val="744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7 062342.png"/>
          <p:cNvPicPr>
            <a:picLocks noChangeAspect="1"/>
          </p:cNvPicPr>
          <p:nvPr/>
        </p:nvPicPr>
        <p:blipFill>
          <a:blip r:embed="rId2"/>
          <a:stretch>
            <a:fillRect/>
          </a:stretch>
        </p:blipFill>
        <p:spPr>
          <a:xfrm>
            <a:off x="658368" y="1353312"/>
            <a:ext cx="8001000" cy="4471939"/>
          </a:xfrm>
          <a:prstGeom prst="rect">
            <a:avLst/>
          </a:prstGeom>
        </p:spPr>
      </p:pic>
      <p:sp>
        <p:nvSpPr>
          <p:cNvPr id="7" name="Rounded Rectangle 6"/>
          <p:cNvSpPr/>
          <p:nvPr/>
        </p:nvSpPr>
        <p:spPr>
          <a:xfrm>
            <a:off x="8961120" y="1371600"/>
            <a:ext cx="2514600" cy="105156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25712" y="1499616"/>
            <a:ext cx="2185416" cy="438912"/>
          </a:xfrm>
          <a:prstGeom prst="rect">
            <a:avLst/>
          </a:prstGeom>
          <a:noFill/>
        </p:spPr>
        <p:txBody>
          <a:bodyPr wrap="square" anchor="t">
            <a:spAutoFit/>
          </a:bodyPr>
          <a:lstStyle/>
          <a:p>
            <a:pPr algn="l"/>
            <a:r>
              <a:rPr sz="2200" b="1">
                <a:solidFill>
                  <a:srgbClr val="744996"/>
                </a:solidFill>
                <a:latin typeface="Aptos"/>
              </a:rPr>
              <a:t>35</a:t>
            </a:r>
          </a:p>
        </p:txBody>
      </p:sp>
      <p:sp>
        <p:nvSpPr>
          <p:cNvPr id="9" name="TextBox 8"/>
          <p:cNvSpPr txBox="1"/>
          <p:nvPr/>
        </p:nvSpPr>
        <p:spPr>
          <a:xfrm>
            <a:off x="9125712" y="2011680"/>
            <a:ext cx="2185416" cy="274320"/>
          </a:xfrm>
          <a:prstGeom prst="rect">
            <a:avLst/>
          </a:prstGeom>
          <a:noFill/>
        </p:spPr>
        <p:txBody>
          <a:bodyPr wrap="square" anchor="t">
            <a:spAutoFit/>
          </a:bodyPr>
          <a:lstStyle/>
          <a:p>
            <a:pPr algn="l"/>
            <a:r>
              <a:rPr sz="1000" b="1">
                <a:solidFill>
                  <a:srgbClr val="67616E"/>
                </a:solidFill>
                <a:latin typeface="Aptos"/>
              </a:rPr>
              <a:t>Participants</a:t>
            </a:r>
          </a:p>
        </p:txBody>
      </p:sp>
      <p:sp>
        <p:nvSpPr>
          <p:cNvPr id="10" name="Rounded Rectangle 9"/>
          <p:cNvSpPr/>
          <p:nvPr/>
        </p:nvSpPr>
        <p:spPr>
          <a:xfrm>
            <a:off x="8961120" y="2606040"/>
            <a:ext cx="2514600" cy="105156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25712" y="2734056"/>
            <a:ext cx="2185416" cy="438912"/>
          </a:xfrm>
          <a:prstGeom prst="rect">
            <a:avLst/>
          </a:prstGeom>
          <a:noFill/>
        </p:spPr>
        <p:txBody>
          <a:bodyPr wrap="square" anchor="t">
            <a:spAutoFit/>
          </a:bodyPr>
          <a:lstStyle/>
          <a:p>
            <a:pPr algn="l"/>
            <a:r>
              <a:rPr sz="2200" b="1">
                <a:solidFill>
                  <a:srgbClr val="4C8F8B"/>
                </a:solidFill>
                <a:latin typeface="Aptos"/>
              </a:rPr>
              <a:t>6.55K</a:t>
            </a:r>
          </a:p>
        </p:txBody>
      </p:sp>
      <p:sp>
        <p:nvSpPr>
          <p:cNvPr id="12" name="TextBox 11"/>
          <p:cNvSpPr txBox="1"/>
          <p:nvPr/>
        </p:nvSpPr>
        <p:spPr>
          <a:xfrm>
            <a:off x="9125712" y="3246120"/>
            <a:ext cx="2185416" cy="274320"/>
          </a:xfrm>
          <a:prstGeom prst="rect">
            <a:avLst/>
          </a:prstGeom>
          <a:noFill/>
        </p:spPr>
        <p:txBody>
          <a:bodyPr wrap="square" anchor="t">
            <a:spAutoFit/>
          </a:bodyPr>
          <a:lstStyle/>
          <a:p>
            <a:pPr algn="l"/>
            <a:r>
              <a:rPr sz="1000" b="1">
                <a:solidFill>
                  <a:srgbClr val="67616E"/>
                </a:solidFill>
                <a:latin typeface="Aptos"/>
              </a:rPr>
              <a:t>Avg. steps</a:t>
            </a:r>
          </a:p>
        </p:txBody>
      </p:sp>
      <p:sp>
        <p:nvSpPr>
          <p:cNvPr id="13" name="Rounded Rectangle 12"/>
          <p:cNvSpPr/>
          <p:nvPr/>
        </p:nvSpPr>
        <p:spPr>
          <a:xfrm>
            <a:off x="8961120" y="3840480"/>
            <a:ext cx="2514600" cy="105156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25712" y="3968496"/>
            <a:ext cx="2185416" cy="438912"/>
          </a:xfrm>
          <a:prstGeom prst="rect">
            <a:avLst/>
          </a:prstGeom>
          <a:noFill/>
        </p:spPr>
        <p:txBody>
          <a:bodyPr wrap="square" anchor="t">
            <a:spAutoFit/>
          </a:bodyPr>
          <a:lstStyle/>
          <a:p>
            <a:pPr algn="l"/>
            <a:r>
              <a:rPr sz="2200" b="1">
                <a:solidFill>
                  <a:srgbClr val="744996"/>
                </a:solidFill>
                <a:latin typeface="Aptos"/>
              </a:rPr>
              <a:t>6h 59m</a:t>
            </a:r>
          </a:p>
        </p:txBody>
      </p:sp>
      <p:sp>
        <p:nvSpPr>
          <p:cNvPr id="15" name="TextBox 14"/>
          <p:cNvSpPr txBox="1"/>
          <p:nvPr/>
        </p:nvSpPr>
        <p:spPr>
          <a:xfrm>
            <a:off x="9125712" y="4480560"/>
            <a:ext cx="2185416" cy="274320"/>
          </a:xfrm>
          <a:prstGeom prst="rect">
            <a:avLst/>
          </a:prstGeom>
          <a:noFill/>
        </p:spPr>
        <p:txBody>
          <a:bodyPr wrap="square" anchor="t">
            <a:spAutoFit/>
          </a:bodyPr>
          <a:lstStyle/>
          <a:p>
            <a:pPr algn="l"/>
            <a:r>
              <a:rPr sz="1000" b="1">
                <a:solidFill>
                  <a:srgbClr val="67616E"/>
                </a:solidFill>
                <a:latin typeface="Aptos"/>
              </a:rPr>
              <a:t>Avg. sleep</a:t>
            </a:r>
          </a:p>
        </p:txBody>
      </p:sp>
      <p:sp>
        <p:nvSpPr>
          <p:cNvPr id="16" name="TextBox 15"/>
          <p:cNvSpPr txBox="1"/>
          <p:nvPr/>
        </p:nvSpPr>
        <p:spPr>
          <a:xfrm>
            <a:off x="8979408" y="5166360"/>
            <a:ext cx="2468880" cy="914400"/>
          </a:xfrm>
          <a:prstGeom prst="rect">
            <a:avLst/>
          </a:prstGeom>
          <a:noFill/>
        </p:spPr>
        <p:txBody>
          <a:bodyPr wrap="square" anchor="t">
            <a:spAutoFit/>
          </a:bodyPr>
          <a:lstStyle/>
          <a:p>
            <a:pPr algn="l"/>
            <a:r>
              <a:rPr sz="1100" b="0">
                <a:solidFill>
                  <a:srgbClr val="231F29"/>
                </a:solidFill>
                <a:latin typeface="Aptos"/>
              </a:rPr>
              <a:t>Participant and date slicers support interactive exploration. Measures were reconciled against the Excel analysis before final presentation.</a:t>
            </a:r>
          </a:p>
        </p:txBody>
      </p:sp>
      <p:sp>
        <p:nvSpPr>
          <p:cNvPr id="17" name="TextBox 16"/>
          <p:cNvSpPr txBox="1"/>
          <p:nvPr/>
        </p:nvSpPr>
        <p:spPr>
          <a:xfrm>
            <a:off x="11155680" y="6419088"/>
            <a:ext cx="457200" cy="182880"/>
          </a:xfrm>
          <a:prstGeom prst="rect">
            <a:avLst/>
          </a:prstGeom>
          <a:noFill/>
        </p:spPr>
        <p:txBody>
          <a:bodyPr wrap="square" anchor="t">
            <a:spAutoFit/>
          </a:bodyPr>
          <a:lstStyle/>
          <a:p>
            <a:pPr algn="r"/>
            <a:r>
              <a:rPr sz="800" b="1">
                <a:solidFill>
                  <a:srgbClr val="67616E"/>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p:spPr>
        <p:txBody>
          <a:bodyPr wrap="square" anchor="t">
            <a:spAutoFit/>
          </a:bodyPr>
          <a:lstStyle/>
          <a:p>
            <a:pPr algn="l"/>
            <a:r>
              <a:rPr sz="900" b="1">
                <a:solidFill>
                  <a:srgbClr val="744996"/>
                </a:solidFill>
                <a:latin typeface="Aptos"/>
              </a:rPr>
              <a:t>SYNTHESIS</a:t>
            </a:r>
          </a:p>
        </p:txBody>
      </p:sp>
      <p:sp>
        <p:nvSpPr>
          <p:cNvPr id="4" name="TextBox 3"/>
          <p:cNvSpPr txBox="1"/>
          <p:nvPr/>
        </p:nvSpPr>
        <p:spPr>
          <a:xfrm>
            <a:off x="594360" y="530352"/>
            <a:ext cx="10972800" cy="475488"/>
          </a:xfrm>
          <a:prstGeom prst="rect">
            <a:avLst/>
          </a:prstGeom>
          <a:noFill/>
        </p:spPr>
        <p:txBody>
          <a:bodyPr wrap="square" anchor="t">
            <a:spAutoFit/>
          </a:bodyPr>
          <a:lstStyle/>
          <a:p>
            <a:pPr algn="l"/>
            <a:r>
              <a:rPr sz="2400" b="1">
                <a:solidFill>
                  <a:srgbClr val="231F29"/>
                </a:solidFill>
                <a:latin typeface="Aptos Display"/>
              </a:rPr>
              <a:t>Answers to Bellabeat's business questions</a:t>
            </a:r>
          </a:p>
        </p:txBody>
      </p:sp>
      <p:sp>
        <p:nvSpPr>
          <p:cNvPr id="5" name="Rectangle 4"/>
          <p:cNvSpPr/>
          <p:nvPr/>
        </p:nvSpPr>
        <p:spPr>
          <a:xfrm>
            <a:off x="594360" y="1078992"/>
            <a:ext cx="502920" cy="45720"/>
          </a:xfrm>
          <a:prstGeom prst="rect">
            <a:avLst/>
          </a:prstGeom>
          <a:solidFill>
            <a:srgbClr val="744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417320"/>
            <a:ext cx="10652760" cy="1207008"/>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72768"/>
            <a:ext cx="10287000" cy="292608"/>
          </a:xfrm>
          <a:prstGeom prst="rect">
            <a:avLst/>
          </a:prstGeom>
          <a:noFill/>
        </p:spPr>
        <p:txBody>
          <a:bodyPr wrap="square" anchor="t">
            <a:spAutoFit/>
          </a:bodyPr>
          <a:lstStyle/>
          <a:p>
            <a:pPr algn="l"/>
            <a:r>
              <a:rPr sz="1200" b="1">
                <a:solidFill>
                  <a:srgbClr val="744996"/>
                </a:solidFill>
                <a:latin typeface="Aptos"/>
              </a:rPr>
              <a:t>1  Smart-device trends</a:t>
            </a:r>
          </a:p>
        </p:txBody>
      </p:sp>
      <p:sp>
        <p:nvSpPr>
          <p:cNvPr id="8" name="TextBox 7"/>
          <p:cNvSpPr txBox="1"/>
          <p:nvPr/>
        </p:nvSpPr>
        <p:spPr>
          <a:xfrm>
            <a:off x="960120" y="1947672"/>
            <a:ext cx="10287000" cy="566928"/>
          </a:xfrm>
          <a:prstGeom prst="rect">
            <a:avLst/>
          </a:prstGeom>
          <a:noFill/>
        </p:spPr>
        <p:txBody>
          <a:bodyPr wrap="square" anchor="t">
            <a:spAutoFit/>
          </a:bodyPr>
          <a:lstStyle/>
          <a:p>
            <a:pPr algn="l"/>
            <a:r>
              <a:rPr sz="1050" b="0">
                <a:solidFill>
                  <a:srgbClr val="231F29"/>
                </a:solidFill>
                <a:latin typeface="Aptos"/>
              </a:rPr>
              <a:t>Predominantly sedentary/light activity; variable sleep; movement positively associated with calories; clear time-of-day pattern; uneven recording coverage.</a:t>
            </a:r>
          </a:p>
        </p:txBody>
      </p:sp>
      <p:sp>
        <p:nvSpPr>
          <p:cNvPr id="9" name="Rounded Rectangle 8"/>
          <p:cNvSpPr/>
          <p:nvPr/>
        </p:nvSpPr>
        <p:spPr>
          <a:xfrm>
            <a:off x="777240" y="2926080"/>
            <a:ext cx="10652760" cy="1207008"/>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081528"/>
            <a:ext cx="10287000" cy="292608"/>
          </a:xfrm>
          <a:prstGeom prst="rect">
            <a:avLst/>
          </a:prstGeom>
          <a:noFill/>
        </p:spPr>
        <p:txBody>
          <a:bodyPr wrap="square" anchor="t">
            <a:spAutoFit/>
          </a:bodyPr>
          <a:lstStyle/>
          <a:p>
            <a:pPr algn="l"/>
            <a:r>
              <a:rPr sz="1200" b="1">
                <a:solidFill>
                  <a:srgbClr val="4C8F8B"/>
                </a:solidFill>
                <a:latin typeface="Aptos"/>
              </a:rPr>
              <a:t>2  Application to customers</a:t>
            </a:r>
          </a:p>
        </p:txBody>
      </p:sp>
      <p:sp>
        <p:nvSpPr>
          <p:cNvPr id="11" name="TextBox 10"/>
          <p:cNvSpPr txBox="1"/>
          <p:nvPr/>
        </p:nvSpPr>
        <p:spPr>
          <a:xfrm>
            <a:off x="960120" y="3456432"/>
            <a:ext cx="10287000" cy="566928"/>
          </a:xfrm>
          <a:prstGeom prst="rect">
            <a:avLst/>
          </a:prstGeom>
          <a:noFill/>
        </p:spPr>
        <p:txBody>
          <a:bodyPr wrap="square" anchor="t">
            <a:spAutoFit/>
          </a:bodyPr>
          <a:lstStyle/>
          <a:p>
            <a:pPr algn="l"/>
            <a:r>
              <a:rPr sz="1050" b="0">
                <a:solidFill>
                  <a:srgbClr val="231F29"/>
                </a:solidFill>
                <a:latin typeface="Aptos"/>
              </a:rPr>
              <a:t>Potential value in manageable daily movement, personalized activity/sleep insights, behavior-aware reminders, and consistent tracking — subject to Bellabeat-specific validation.</a:t>
            </a:r>
          </a:p>
        </p:txBody>
      </p:sp>
      <p:sp>
        <p:nvSpPr>
          <p:cNvPr id="12" name="Rounded Rectangle 11"/>
          <p:cNvSpPr/>
          <p:nvPr/>
        </p:nvSpPr>
        <p:spPr>
          <a:xfrm>
            <a:off x="777240" y="4434840"/>
            <a:ext cx="10652760" cy="1207008"/>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590288"/>
            <a:ext cx="10287000" cy="292608"/>
          </a:xfrm>
          <a:prstGeom prst="rect">
            <a:avLst/>
          </a:prstGeom>
          <a:noFill/>
        </p:spPr>
        <p:txBody>
          <a:bodyPr wrap="square" anchor="t">
            <a:spAutoFit/>
          </a:bodyPr>
          <a:lstStyle/>
          <a:p>
            <a:pPr algn="l"/>
            <a:r>
              <a:rPr sz="1200" b="1">
                <a:solidFill>
                  <a:srgbClr val="744996"/>
                </a:solidFill>
                <a:latin typeface="Aptos"/>
              </a:rPr>
              <a:t>3  Marketing implications</a:t>
            </a:r>
          </a:p>
        </p:txBody>
      </p:sp>
      <p:sp>
        <p:nvSpPr>
          <p:cNvPr id="14" name="TextBox 13"/>
          <p:cNvSpPr txBox="1"/>
          <p:nvPr/>
        </p:nvSpPr>
        <p:spPr>
          <a:xfrm>
            <a:off x="960120" y="4965192"/>
            <a:ext cx="10287000" cy="566928"/>
          </a:xfrm>
          <a:prstGeom prst="rect">
            <a:avLst/>
          </a:prstGeom>
          <a:noFill/>
        </p:spPr>
        <p:txBody>
          <a:bodyPr wrap="square" anchor="t">
            <a:spAutoFit/>
          </a:bodyPr>
          <a:lstStyle/>
          <a:p>
            <a:pPr algn="l"/>
            <a:r>
              <a:rPr sz="1050" b="0">
                <a:solidFill>
                  <a:srgbClr val="231F29"/>
                </a:solidFill>
                <a:latin typeface="Aptos"/>
              </a:rPr>
              <a:t>Test messaging around accessible daily wellness, personalization, consistent tracking and behavior-informed engagement rather than intensive exercise alone.</a:t>
            </a:r>
          </a:p>
        </p:txBody>
      </p:sp>
      <p:sp>
        <p:nvSpPr>
          <p:cNvPr id="15" name="TextBox 14"/>
          <p:cNvSpPr txBox="1"/>
          <p:nvPr/>
        </p:nvSpPr>
        <p:spPr>
          <a:xfrm>
            <a:off x="11155680" y="6419088"/>
            <a:ext cx="457200" cy="182880"/>
          </a:xfrm>
          <a:prstGeom prst="rect">
            <a:avLst/>
          </a:prstGeom>
          <a:noFill/>
        </p:spPr>
        <p:txBody>
          <a:bodyPr wrap="square" anchor="t">
            <a:spAutoFit/>
          </a:bodyPr>
          <a:lstStyle/>
          <a:p>
            <a:pPr algn="r"/>
            <a:r>
              <a:rPr sz="800" b="1">
                <a:solidFill>
                  <a:srgbClr val="67616E"/>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p:spPr>
        <p:txBody>
          <a:bodyPr wrap="square" anchor="t">
            <a:spAutoFit/>
          </a:bodyPr>
          <a:lstStyle/>
          <a:p>
            <a:pPr algn="l"/>
            <a:r>
              <a:rPr sz="900" b="1">
                <a:solidFill>
                  <a:srgbClr val="744996"/>
                </a:solidFill>
                <a:latin typeface="Aptos"/>
              </a:rPr>
              <a:t>ACT</a:t>
            </a:r>
          </a:p>
        </p:txBody>
      </p:sp>
      <p:sp>
        <p:nvSpPr>
          <p:cNvPr id="4" name="TextBox 3"/>
          <p:cNvSpPr txBox="1"/>
          <p:nvPr/>
        </p:nvSpPr>
        <p:spPr>
          <a:xfrm>
            <a:off x="594360" y="530352"/>
            <a:ext cx="10972800" cy="475488"/>
          </a:xfrm>
          <a:prstGeom prst="rect">
            <a:avLst/>
          </a:prstGeom>
          <a:noFill/>
        </p:spPr>
        <p:txBody>
          <a:bodyPr wrap="square" anchor="t">
            <a:spAutoFit/>
          </a:bodyPr>
          <a:lstStyle/>
          <a:p>
            <a:pPr algn="l"/>
            <a:r>
              <a:rPr sz="2400" b="1">
                <a:solidFill>
                  <a:srgbClr val="231F29"/>
                </a:solidFill>
                <a:latin typeface="Aptos Display"/>
              </a:rPr>
              <a:t>Recommendations</a:t>
            </a:r>
          </a:p>
        </p:txBody>
      </p:sp>
      <p:sp>
        <p:nvSpPr>
          <p:cNvPr id="5" name="Rectangle 4"/>
          <p:cNvSpPr/>
          <p:nvPr/>
        </p:nvSpPr>
        <p:spPr>
          <a:xfrm>
            <a:off x="594360" y="1078992"/>
            <a:ext cx="502920" cy="45720"/>
          </a:xfrm>
          <a:prstGeom prst="rect">
            <a:avLst/>
          </a:prstGeom>
          <a:solidFill>
            <a:srgbClr val="744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502920" cy="320040"/>
          </a:xfrm>
          <a:prstGeom prst="rect">
            <a:avLst/>
          </a:prstGeom>
          <a:noFill/>
        </p:spPr>
        <p:txBody>
          <a:bodyPr wrap="square" anchor="t">
            <a:spAutoFit/>
          </a:bodyPr>
          <a:lstStyle/>
          <a:p>
            <a:pPr algn="l"/>
            <a:r>
              <a:rPr sz="1400" b="1">
                <a:solidFill>
                  <a:srgbClr val="744996"/>
                </a:solidFill>
                <a:latin typeface="Aptos"/>
              </a:rPr>
              <a:t>01</a:t>
            </a:r>
          </a:p>
        </p:txBody>
      </p:sp>
      <p:sp>
        <p:nvSpPr>
          <p:cNvPr id="7" name="TextBox 6"/>
          <p:cNvSpPr txBox="1"/>
          <p:nvPr/>
        </p:nvSpPr>
        <p:spPr>
          <a:xfrm>
            <a:off x="1417320" y="1417320"/>
            <a:ext cx="3840480" cy="320040"/>
          </a:xfrm>
          <a:prstGeom prst="rect">
            <a:avLst/>
          </a:prstGeom>
          <a:noFill/>
        </p:spPr>
        <p:txBody>
          <a:bodyPr wrap="square" anchor="t">
            <a:spAutoFit/>
          </a:bodyPr>
          <a:lstStyle/>
          <a:p>
            <a:pPr algn="l"/>
            <a:r>
              <a:rPr sz="1500" b="1">
                <a:solidFill>
                  <a:srgbClr val="231F29"/>
                </a:solidFill>
                <a:latin typeface="Aptos"/>
              </a:rPr>
              <a:t>Promote achievable everyday movement</a:t>
            </a:r>
          </a:p>
        </p:txBody>
      </p:sp>
      <p:sp>
        <p:nvSpPr>
          <p:cNvPr id="8" name="TextBox 7"/>
          <p:cNvSpPr txBox="1"/>
          <p:nvPr/>
        </p:nvSpPr>
        <p:spPr>
          <a:xfrm>
            <a:off x="5074920" y="1417320"/>
            <a:ext cx="6126480" cy="685800"/>
          </a:xfrm>
          <a:prstGeom prst="rect">
            <a:avLst/>
          </a:prstGeom>
          <a:noFill/>
        </p:spPr>
        <p:txBody>
          <a:bodyPr wrap="square" anchor="t">
            <a:spAutoFit/>
          </a:bodyPr>
          <a:lstStyle/>
          <a:p>
            <a:pPr algn="l"/>
            <a:r>
              <a:rPr sz="1250" b="0">
                <a:solidFill>
                  <a:srgbClr val="231F29"/>
                </a:solidFill>
                <a:latin typeface="Aptos"/>
              </a:rPr>
              <a:t>Test messaging and features that encourage manageable increases in movement and reductions in prolonged sedentary behavior.</a:t>
            </a:r>
          </a:p>
        </p:txBody>
      </p:sp>
      <p:sp>
        <p:nvSpPr>
          <p:cNvPr id="9" name="TextBox 8"/>
          <p:cNvSpPr txBox="1"/>
          <p:nvPr/>
        </p:nvSpPr>
        <p:spPr>
          <a:xfrm>
            <a:off x="777240" y="2743200"/>
            <a:ext cx="502920" cy="320040"/>
          </a:xfrm>
          <a:prstGeom prst="rect">
            <a:avLst/>
          </a:prstGeom>
          <a:noFill/>
        </p:spPr>
        <p:txBody>
          <a:bodyPr wrap="square" anchor="t">
            <a:spAutoFit/>
          </a:bodyPr>
          <a:lstStyle/>
          <a:p>
            <a:pPr algn="l"/>
            <a:r>
              <a:rPr sz="1400" b="1">
                <a:solidFill>
                  <a:srgbClr val="4C8F8B"/>
                </a:solidFill>
                <a:latin typeface="Aptos"/>
              </a:rPr>
              <a:t>02</a:t>
            </a:r>
          </a:p>
        </p:txBody>
      </p:sp>
      <p:sp>
        <p:nvSpPr>
          <p:cNvPr id="10" name="TextBox 9"/>
          <p:cNvSpPr txBox="1"/>
          <p:nvPr/>
        </p:nvSpPr>
        <p:spPr>
          <a:xfrm>
            <a:off x="1417320" y="2743200"/>
            <a:ext cx="3840480" cy="320040"/>
          </a:xfrm>
          <a:prstGeom prst="rect">
            <a:avLst/>
          </a:prstGeom>
          <a:noFill/>
        </p:spPr>
        <p:txBody>
          <a:bodyPr wrap="square" anchor="t">
            <a:spAutoFit/>
          </a:bodyPr>
          <a:lstStyle/>
          <a:p>
            <a:pPr algn="l"/>
            <a:r>
              <a:rPr sz="1500" b="1">
                <a:solidFill>
                  <a:srgbClr val="231F29"/>
                </a:solidFill>
                <a:latin typeface="Aptos"/>
              </a:rPr>
              <a:t>Strengthen personalized wellness insights</a:t>
            </a:r>
          </a:p>
        </p:txBody>
      </p:sp>
      <p:sp>
        <p:nvSpPr>
          <p:cNvPr id="11" name="TextBox 10"/>
          <p:cNvSpPr txBox="1"/>
          <p:nvPr/>
        </p:nvSpPr>
        <p:spPr>
          <a:xfrm>
            <a:off x="5074920" y="2743200"/>
            <a:ext cx="6126480" cy="685800"/>
          </a:xfrm>
          <a:prstGeom prst="rect">
            <a:avLst/>
          </a:prstGeom>
          <a:noFill/>
        </p:spPr>
        <p:txBody>
          <a:bodyPr wrap="square" anchor="t">
            <a:spAutoFit/>
          </a:bodyPr>
          <a:lstStyle/>
          <a:p>
            <a:pPr algn="l"/>
            <a:r>
              <a:rPr sz="1250" b="0">
                <a:solidFill>
                  <a:srgbClr val="231F29"/>
                </a:solidFill>
                <a:latin typeface="Aptos"/>
              </a:rPr>
              <a:t>Help users understand their own activity, sleep and connected wellness patterns over time.</a:t>
            </a:r>
          </a:p>
        </p:txBody>
      </p:sp>
      <p:sp>
        <p:nvSpPr>
          <p:cNvPr id="12" name="TextBox 11"/>
          <p:cNvSpPr txBox="1"/>
          <p:nvPr/>
        </p:nvSpPr>
        <p:spPr>
          <a:xfrm>
            <a:off x="777240" y="4069080"/>
            <a:ext cx="502920" cy="320040"/>
          </a:xfrm>
          <a:prstGeom prst="rect">
            <a:avLst/>
          </a:prstGeom>
          <a:noFill/>
        </p:spPr>
        <p:txBody>
          <a:bodyPr wrap="square" anchor="t">
            <a:spAutoFit/>
          </a:bodyPr>
          <a:lstStyle/>
          <a:p>
            <a:pPr algn="l"/>
            <a:r>
              <a:rPr sz="1400" b="1">
                <a:solidFill>
                  <a:srgbClr val="744996"/>
                </a:solidFill>
                <a:latin typeface="Aptos"/>
              </a:rPr>
              <a:t>03</a:t>
            </a:r>
          </a:p>
        </p:txBody>
      </p:sp>
      <p:sp>
        <p:nvSpPr>
          <p:cNvPr id="13" name="TextBox 12"/>
          <p:cNvSpPr txBox="1"/>
          <p:nvPr/>
        </p:nvSpPr>
        <p:spPr>
          <a:xfrm>
            <a:off x="1417320" y="4069080"/>
            <a:ext cx="3840480" cy="320040"/>
          </a:xfrm>
          <a:prstGeom prst="rect">
            <a:avLst/>
          </a:prstGeom>
          <a:noFill/>
        </p:spPr>
        <p:txBody>
          <a:bodyPr wrap="square" anchor="t">
            <a:spAutoFit/>
          </a:bodyPr>
          <a:lstStyle/>
          <a:p>
            <a:pPr algn="l"/>
            <a:r>
              <a:rPr sz="1500" b="1">
                <a:solidFill>
                  <a:srgbClr val="231F29"/>
                </a:solidFill>
                <a:latin typeface="Aptos"/>
              </a:rPr>
              <a:t>Test behavior-informed engagement</a:t>
            </a:r>
          </a:p>
        </p:txBody>
      </p:sp>
      <p:sp>
        <p:nvSpPr>
          <p:cNvPr id="14" name="TextBox 13"/>
          <p:cNvSpPr txBox="1"/>
          <p:nvPr/>
        </p:nvSpPr>
        <p:spPr>
          <a:xfrm>
            <a:off x="5074920" y="4069080"/>
            <a:ext cx="6126480" cy="685800"/>
          </a:xfrm>
          <a:prstGeom prst="rect">
            <a:avLst/>
          </a:prstGeom>
          <a:noFill/>
        </p:spPr>
        <p:txBody>
          <a:bodyPr wrap="square" anchor="t">
            <a:spAutoFit/>
          </a:bodyPr>
          <a:lstStyle/>
          <a:p>
            <a:pPr algn="l"/>
            <a:r>
              <a:rPr sz="1250" b="0">
                <a:solidFill>
                  <a:srgbClr val="231F29"/>
                </a:solidFill>
                <a:latin typeface="Aptos"/>
              </a:rPr>
              <a:t>Experiment with communication timing and consistent-tracking mechanisms using Bellabeat's own customer data.</a:t>
            </a:r>
          </a:p>
        </p:txBody>
      </p:sp>
      <p:sp>
        <p:nvSpPr>
          <p:cNvPr id="15" name="TextBox 14"/>
          <p:cNvSpPr txBox="1"/>
          <p:nvPr/>
        </p:nvSpPr>
        <p:spPr>
          <a:xfrm>
            <a:off x="777240" y="5577840"/>
            <a:ext cx="1828800" cy="274320"/>
          </a:xfrm>
          <a:prstGeom prst="rect">
            <a:avLst/>
          </a:prstGeom>
          <a:noFill/>
        </p:spPr>
        <p:txBody>
          <a:bodyPr wrap="square" anchor="t">
            <a:spAutoFit/>
          </a:bodyPr>
          <a:lstStyle/>
          <a:p>
            <a:pPr algn="l"/>
            <a:r>
              <a:rPr sz="1100" b="1">
                <a:solidFill>
                  <a:srgbClr val="744996"/>
                </a:solidFill>
                <a:latin typeface="Aptos"/>
              </a:rPr>
              <a:t>Implementation principle</a:t>
            </a:r>
          </a:p>
        </p:txBody>
      </p:sp>
      <p:sp>
        <p:nvSpPr>
          <p:cNvPr id="16" name="TextBox 15"/>
          <p:cNvSpPr txBox="1"/>
          <p:nvPr/>
        </p:nvSpPr>
        <p:spPr>
          <a:xfrm>
            <a:off x="2423160" y="5513832"/>
            <a:ext cx="5029200" cy="365760"/>
          </a:xfrm>
          <a:prstGeom prst="rect">
            <a:avLst/>
          </a:prstGeom>
          <a:noFill/>
        </p:spPr>
        <p:txBody>
          <a:bodyPr wrap="square" anchor="t">
            <a:spAutoFit/>
          </a:bodyPr>
          <a:lstStyle/>
          <a:p>
            <a:pPr algn="l"/>
            <a:r>
              <a:rPr sz="1600" b="1">
                <a:solidFill>
                  <a:srgbClr val="231F29"/>
                </a:solidFill>
                <a:latin typeface="Aptos"/>
              </a:rPr>
              <a:t>Validate → Experiment → Measure → Scale</a:t>
            </a:r>
          </a:p>
        </p:txBody>
      </p:sp>
      <p:sp>
        <p:nvSpPr>
          <p:cNvPr id="17" name="TextBox 16"/>
          <p:cNvSpPr txBox="1"/>
          <p:nvPr/>
        </p:nvSpPr>
        <p:spPr>
          <a:xfrm>
            <a:off x="11155680" y="6419088"/>
            <a:ext cx="457200" cy="182880"/>
          </a:xfrm>
          <a:prstGeom prst="rect">
            <a:avLst/>
          </a:prstGeom>
          <a:noFill/>
        </p:spPr>
        <p:txBody>
          <a:bodyPr wrap="square" anchor="t">
            <a:spAutoFit/>
          </a:bodyPr>
          <a:lstStyle/>
          <a:p>
            <a:pPr algn="r"/>
            <a:r>
              <a:rPr sz="800" b="1">
                <a:solidFill>
                  <a:srgbClr val="67616E"/>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p:spPr>
        <p:txBody>
          <a:bodyPr wrap="square" anchor="t">
            <a:spAutoFit/>
          </a:bodyPr>
          <a:lstStyle/>
          <a:p>
            <a:pPr algn="l"/>
            <a:r>
              <a:rPr sz="900" b="1">
                <a:solidFill>
                  <a:srgbClr val="744996"/>
                </a:solidFill>
                <a:latin typeface="Aptos"/>
              </a:rPr>
              <a:t>CONCLUSION</a:t>
            </a:r>
          </a:p>
        </p:txBody>
      </p:sp>
      <p:sp>
        <p:nvSpPr>
          <p:cNvPr id="4" name="TextBox 3"/>
          <p:cNvSpPr txBox="1"/>
          <p:nvPr/>
        </p:nvSpPr>
        <p:spPr>
          <a:xfrm>
            <a:off x="594360" y="530352"/>
            <a:ext cx="10972800" cy="475488"/>
          </a:xfrm>
          <a:prstGeom prst="rect">
            <a:avLst/>
          </a:prstGeom>
          <a:noFill/>
        </p:spPr>
        <p:txBody>
          <a:bodyPr wrap="square" anchor="t">
            <a:spAutoFit/>
          </a:bodyPr>
          <a:lstStyle/>
          <a:p>
            <a:pPr algn="l"/>
            <a:r>
              <a:rPr sz="2400" b="1">
                <a:solidFill>
                  <a:srgbClr val="231F29"/>
                </a:solidFill>
                <a:latin typeface="Aptos Display"/>
              </a:rPr>
              <a:t>Limitations &amp; skills demonstrated</a:t>
            </a:r>
          </a:p>
        </p:txBody>
      </p:sp>
      <p:sp>
        <p:nvSpPr>
          <p:cNvPr id="5" name="Rectangle 4"/>
          <p:cNvSpPr/>
          <p:nvPr/>
        </p:nvSpPr>
        <p:spPr>
          <a:xfrm>
            <a:off x="594360" y="1078992"/>
            <a:ext cx="502920" cy="45720"/>
          </a:xfrm>
          <a:prstGeom prst="rect">
            <a:avLst/>
          </a:prstGeom>
          <a:solidFill>
            <a:srgbClr val="744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71600"/>
            <a:ext cx="5349240" cy="434340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27048"/>
            <a:ext cx="4983479" cy="292608"/>
          </a:xfrm>
          <a:prstGeom prst="rect">
            <a:avLst/>
          </a:prstGeom>
          <a:noFill/>
        </p:spPr>
        <p:txBody>
          <a:bodyPr wrap="square" anchor="t">
            <a:spAutoFit/>
          </a:bodyPr>
          <a:lstStyle/>
          <a:p>
            <a:pPr algn="l"/>
            <a:r>
              <a:rPr sz="1200" b="1">
                <a:solidFill>
                  <a:srgbClr val="744996"/>
                </a:solidFill>
                <a:latin typeface="Aptos"/>
              </a:rPr>
              <a:t>Limitations</a:t>
            </a:r>
          </a:p>
        </p:txBody>
      </p:sp>
      <p:sp>
        <p:nvSpPr>
          <p:cNvPr id="8" name="TextBox 7"/>
          <p:cNvSpPr txBox="1"/>
          <p:nvPr/>
        </p:nvSpPr>
        <p:spPr>
          <a:xfrm>
            <a:off x="868680" y="1901952"/>
            <a:ext cx="4983479" cy="3703320"/>
          </a:xfrm>
          <a:prstGeom prst="rect">
            <a:avLst/>
          </a:prstGeom>
          <a:noFill/>
        </p:spPr>
        <p:txBody>
          <a:bodyPr wrap="square" anchor="t">
            <a:spAutoFit/>
          </a:bodyPr>
          <a:lstStyle/>
          <a:p>
            <a:pPr algn="l"/>
            <a:r>
              <a:rPr sz="1050" b="0">
                <a:solidFill>
                  <a:srgbClr val="231F29"/>
                </a:solidFill>
                <a:latin typeface="Aptos"/>
              </a:rPr>
              <a:t>• Historical third-party data; not Bellabeat customers.
• Uneven participant coverage and unknown enrollment periods.
• Sleep available for fewer participants; only 12 activity records matched sleep observations.
• No Bellabeat sales, campaign-response, demographic or engagement data.
• Statistical relationships are associative, not causal.</a:t>
            </a:r>
          </a:p>
        </p:txBody>
      </p:sp>
      <p:sp>
        <p:nvSpPr>
          <p:cNvPr id="9" name="Rounded Rectangle 8"/>
          <p:cNvSpPr/>
          <p:nvPr/>
        </p:nvSpPr>
        <p:spPr>
          <a:xfrm>
            <a:off x="6217920" y="1371600"/>
            <a:ext cx="5257800" cy="4343400"/>
          </a:xfrm>
          <a:prstGeom prst="roundRect">
            <a:avLst/>
          </a:prstGeom>
          <a:solidFill>
            <a:srgbClr val="FFFFFF"/>
          </a:solidFill>
          <a:ln w="10160">
            <a:solidFill>
              <a:srgbClr val="DE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27048"/>
            <a:ext cx="4892040" cy="292608"/>
          </a:xfrm>
          <a:prstGeom prst="rect">
            <a:avLst/>
          </a:prstGeom>
          <a:noFill/>
        </p:spPr>
        <p:txBody>
          <a:bodyPr wrap="square" anchor="t">
            <a:spAutoFit/>
          </a:bodyPr>
          <a:lstStyle/>
          <a:p>
            <a:pPr algn="l"/>
            <a:r>
              <a:rPr sz="1200" b="1">
                <a:solidFill>
                  <a:srgbClr val="4C8F8B"/>
                </a:solidFill>
                <a:latin typeface="Aptos"/>
              </a:rPr>
              <a:t>Skills demonstrated</a:t>
            </a:r>
          </a:p>
        </p:txBody>
      </p:sp>
      <p:sp>
        <p:nvSpPr>
          <p:cNvPr id="11" name="TextBox 10"/>
          <p:cNvSpPr txBox="1"/>
          <p:nvPr/>
        </p:nvSpPr>
        <p:spPr>
          <a:xfrm>
            <a:off x="6400800" y="1901952"/>
            <a:ext cx="4892040" cy="3703320"/>
          </a:xfrm>
          <a:prstGeom prst="rect">
            <a:avLst/>
          </a:prstGeom>
          <a:noFill/>
        </p:spPr>
        <p:txBody>
          <a:bodyPr wrap="square" anchor="t">
            <a:spAutoFit/>
          </a:bodyPr>
          <a:lstStyle/>
          <a:p>
            <a:pPr algn="l"/>
            <a:r>
              <a:rPr sz="1050" b="0">
                <a:solidFill>
                  <a:srgbClr val="231F29"/>
                </a:solidFill>
                <a:latin typeface="Aptos"/>
              </a:rPr>
              <a:t>• Excel data cleaning, validation, PivotTables and descriptive analysis
• Correlation analysis and interpretation
• Power Query and star-schema data modelling
• DAX measures and interactive Power BI dashboard design
• Business-question framing, insight synthesis and evidence-based recommendations</a:t>
            </a:r>
          </a:p>
        </p:txBody>
      </p:sp>
      <p:sp>
        <p:nvSpPr>
          <p:cNvPr id="12" name="TextBox 11"/>
          <p:cNvSpPr txBox="1"/>
          <p:nvPr/>
        </p:nvSpPr>
        <p:spPr>
          <a:xfrm>
            <a:off x="731520" y="5925312"/>
            <a:ext cx="1463040" cy="228600"/>
          </a:xfrm>
          <a:prstGeom prst="rect">
            <a:avLst/>
          </a:prstGeom>
          <a:noFill/>
        </p:spPr>
        <p:txBody>
          <a:bodyPr wrap="square" anchor="t">
            <a:spAutoFit/>
          </a:bodyPr>
          <a:lstStyle/>
          <a:p>
            <a:pPr algn="l"/>
            <a:r>
              <a:rPr sz="1000" b="1">
                <a:solidFill>
                  <a:srgbClr val="744996"/>
                </a:solidFill>
                <a:latin typeface="Aptos"/>
              </a:rPr>
              <a:t>Project takeaway</a:t>
            </a:r>
          </a:p>
        </p:txBody>
      </p:sp>
      <p:sp>
        <p:nvSpPr>
          <p:cNvPr id="13" name="TextBox 12"/>
          <p:cNvSpPr txBox="1"/>
          <p:nvPr/>
        </p:nvSpPr>
        <p:spPr>
          <a:xfrm>
            <a:off x="2057400" y="5870448"/>
            <a:ext cx="9144000" cy="411480"/>
          </a:xfrm>
          <a:prstGeom prst="rect">
            <a:avLst/>
          </a:prstGeom>
          <a:noFill/>
        </p:spPr>
        <p:txBody>
          <a:bodyPr wrap="square" anchor="t">
            <a:spAutoFit/>
          </a:bodyPr>
          <a:lstStyle/>
          <a:p>
            <a:pPr algn="l"/>
            <a:r>
              <a:rPr sz="1300" b="1">
                <a:solidFill>
                  <a:srgbClr val="231F29"/>
                </a:solidFill>
                <a:latin typeface="Aptos"/>
              </a:rPr>
              <a:t>A complete ASK → ACT analysis that connects technical work to business decisions while respecting data limitations.</a:t>
            </a:r>
          </a:p>
        </p:txBody>
      </p:sp>
      <p:sp>
        <p:nvSpPr>
          <p:cNvPr id="14" name="TextBox 13"/>
          <p:cNvSpPr txBox="1"/>
          <p:nvPr/>
        </p:nvSpPr>
        <p:spPr>
          <a:xfrm>
            <a:off x="11155680" y="6419088"/>
            <a:ext cx="457200" cy="182880"/>
          </a:xfrm>
          <a:prstGeom prst="rect">
            <a:avLst/>
          </a:prstGeom>
          <a:noFill/>
        </p:spPr>
        <p:txBody>
          <a:bodyPr wrap="square" anchor="t">
            <a:spAutoFit/>
          </a:bodyPr>
          <a:lstStyle/>
          <a:p>
            <a:pPr algn="r"/>
            <a:r>
              <a:rPr sz="800" b="1">
                <a:solidFill>
                  <a:srgbClr val="67616E"/>
                </a:solidFill>
                <a:latin typeface="Apto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